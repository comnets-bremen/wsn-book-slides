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76" r:id="rId3"/>
    <p:sldId id="275" r:id="rId4"/>
    <p:sldId id="277" r:id="rId5"/>
    <p:sldId id="278" r:id="rId6"/>
    <p:sldId id="279" r:id="rId7"/>
    <p:sldId id="280" r:id="rId8"/>
    <p:sldId id="281" r:id="rId9"/>
    <p:sldId id="282" r:id="rId10"/>
    <p:sldId id="284" r:id="rId11"/>
    <p:sldId id="283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73" r:id="rId2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77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051" autoAdjust="0"/>
  </p:normalViewPr>
  <p:slideViewPr>
    <p:cSldViewPr>
      <p:cViewPr varScale="1">
        <p:scale>
          <a:sx n="71" d="100"/>
          <a:sy n="71" d="100"/>
        </p:scale>
        <p:origin x="-156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interSettings" Target="printerSettings/printerSettings1.bin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27BCF-15D2-D548-9FD8-58FD9160F476}" type="datetimeFigureOut">
              <a:rPr lang="en-US" smtClean="0"/>
              <a:t>31.03.18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22A97-2FC2-9B4E-B45A-926C23B3A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989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94272-E92C-C846-A641-780E56020FA0}" type="datetimeFigureOut">
              <a:rPr lang="en-US" smtClean="0"/>
              <a:t>31.03.18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EDB47-CFE0-724D-8A5B-56F53A960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465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Click to edit Master subtitle style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Rectangle 5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Clr>
                <a:srgbClr val="3C7704"/>
              </a:buClr>
              <a:buFont typeface="+mj-lt"/>
              <a:buAutoNum type="arabicPeriod"/>
              <a:defRPr/>
            </a:lvl1pPr>
            <a:lvl2pPr marL="971550" indent="-514350">
              <a:buClr>
                <a:srgbClr val="3C7704"/>
              </a:buClr>
              <a:buFont typeface="+mj-lt"/>
              <a:buAutoNum type="arabicPeriod"/>
              <a:defRPr/>
            </a:lvl2pPr>
            <a:lvl3pPr marL="1371600" indent="-457200">
              <a:buClr>
                <a:srgbClr val="3C7704"/>
              </a:buClr>
              <a:buFont typeface="+mj-lt"/>
              <a:buAutoNum type="arabicPeriod"/>
              <a:defRPr/>
            </a:lvl3pPr>
            <a:lvl4pPr marL="1828800" indent="-457200">
              <a:buClr>
                <a:srgbClr val="3C7704"/>
              </a:buClr>
              <a:buFont typeface="+mj-lt"/>
              <a:buAutoNum type="arabicPeriod"/>
              <a:defRPr/>
            </a:lvl4pPr>
            <a:lvl5pPr marL="2286000" indent="-457200">
              <a:buClr>
                <a:srgbClr val="3C7704"/>
              </a:buClr>
              <a:buFont typeface="+mj-lt"/>
              <a:buAutoNum type="arabicPeriod"/>
              <a:defRPr/>
            </a:lvl5pPr>
          </a:lstStyle>
          <a:p>
            <a:pPr lvl="0"/>
            <a:r>
              <a:rPr lang="de-DE" dirty="0" smtClean="0"/>
              <a:t>Click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edit</a:t>
            </a:r>
            <a:r>
              <a:rPr lang="de-DE" dirty="0" smtClean="0"/>
              <a:t> Master </a:t>
            </a:r>
            <a:r>
              <a:rPr lang="de-DE" dirty="0" err="1" smtClean="0"/>
              <a:t>text</a:t>
            </a:r>
            <a:r>
              <a:rPr lang="de-DE" dirty="0" smtClean="0"/>
              <a:t> </a:t>
            </a:r>
            <a:r>
              <a:rPr lang="de-DE" dirty="0" err="1" smtClean="0"/>
              <a:t>styles</a:t>
            </a:r>
            <a:endParaRPr lang="de-DE" dirty="0" smtClean="0"/>
          </a:p>
          <a:p>
            <a:pPr lvl="1"/>
            <a:r>
              <a:rPr lang="de-DE" dirty="0" smtClean="0"/>
              <a:t>Second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2"/>
            <a:r>
              <a:rPr lang="de-DE" dirty="0" smtClean="0"/>
              <a:t>Third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3"/>
            <a:r>
              <a:rPr lang="de-DE" dirty="0" err="1" smtClean="0"/>
              <a:t>Fourth</a:t>
            </a:r>
            <a:r>
              <a:rPr lang="de-DE" dirty="0" smtClean="0"/>
              <a:t>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4"/>
            <a:r>
              <a:rPr lang="de-DE" dirty="0" err="1" smtClean="0"/>
              <a:t>Fifth</a:t>
            </a:r>
            <a:r>
              <a:rPr lang="de-DE" dirty="0" smtClean="0"/>
              <a:t> </a:t>
            </a:r>
            <a:r>
              <a:rPr lang="de-DE" dirty="0" err="1" smtClean="0"/>
              <a:t>level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Rectangle 5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6809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 smtClean="0"/>
          </a:p>
        </p:txBody>
      </p:sp>
      <p:sp>
        <p:nvSpPr>
          <p:cNvPr id="7" name="Rectangle 6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/>
          </a:p>
        </p:txBody>
      </p:sp>
      <p:sp>
        <p:nvSpPr>
          <p:cNvPr id="5" name="Rectangle 4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/>
          </a:p>
        </p:txBody>
      </p:sp>
      <p:sp>
        <p:nvSpPr>
          <p:cNvPr id="4" name="Rectangle 3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.emf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 smtClean="0"/>
              <a:t>Click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edit</a:t>
            </a:r>
            <a:r>
              <a:rPr lang="de-DE" dirty="0" smtClean="0"/>
              <a:t>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80728"/>
            <a:ext cx="8229600" cy="5145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-108520" y="6165304"/>
            <a:ext cx="2880320" cy="6926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3008" y="6237312"/>
            <a:ext cx="990600" cy="482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259632" y="6309320"/>
            <a:ext cx="1181100" cy="355600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148064" y="638132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DD6B2-4EAD-7646-BE25-47CB62D96D2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2" r:id="rId5"/>
    <p:sldLayoutId id="2147483654" r:id="rId6"/>
    <p:sldLayoutId id="2147483655" r:id="rId7"/>
  </p:sldLayoutIdLs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2"/>
        </a:buBlip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Tx/>
        <a:buBlip>
          <a:blip r:embed="rId12"/>
        </a:buBlip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3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8720" y="620688"/>
            <a:ext cx="6119664" cy="1470025"/>
          </a:xfrm>
        </p:spPr>
        <p:txBody>
          <a:bodyPr/>
          <a:lstStyle/>
          <a:p>
            <a:r>
              <a:rPr lang="de-DE" sz="2400" dirty="0" smtClean="0">
                <a:latin typeface="Arial"/>
                <a:cs typeface="Arial"/>
              </a:rPr>
              <a:t>INTRODUCTION TO </a:t>
            </a:r>
            <a:br>
              <a:rPr lang="de-DE" sz="2400" dirty="0" smtClean="0">
                <a:latin typeface="Arial"/>
                <a:cs typeface="Arial"/>
              </a:rPr>
            </a:br>
            <a:r>
              <a:rPr lang="de-DE" sz="2400" dirty="0" smtClean="0">
                <a:latin typeface="Arial"/>
                <a:cs typeface="Arial"/>
              </a:rPr>
              <a:t>WIRELESS SENSOR NETWORKS</a:t>
            </a:r>
            <a:endParaRPr lang="de-DE" sz="2400" dirty="0">
              <a:latin typeface="Arial"/>
              <a:cs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3620616"/>
            <a:ext cx="7416824" cy="1752600"/>
          </a:xfrm>
        </p:spPr>
        <p:txBody>
          <a:bodyPr/>
          <a:lstStyle/>
          <a:p>
            <a:r>
              <a:rPr lang="de-DE" dirty="0" smtClean="0"/>
              <a:t>CHAPTER </a:t>
            </a:r>
            <a:r>
              <a:rPr lang="de-DE" dirty="0" smtClean="0"/>
              <a:t>4: 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smtClean="0"/>
              <a:t>LINK MANAGEMENT</a:t>
            </a:r>
            <a:endParaRPr lang="de-DE" dirty="0"/>
          </a:p>
        </p:txBody>
      </p:sp>
      <p:sp>
        <p:nvSpPr>
          <p:cNvPr id="4" name="TextBox 3"/>
          <p:cNvSpPr txBox="1"/>
          <p:nvPr/>
        </p:nvSpPr>
        <p:spPr>
          <a:xfrm>
            <a:off x="3419872" y="4653136"/>
            <a:ext cx="233589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Anna Förster</a:t>
            </a:r>
            <a:endParaRPr lang="en-US" sz="3200" dirty="0"/>
          </a:p>
        </p:txBody>
      </p:sp>
      <p:pic>
        <p:nvPicPr>
          <p:cNvPr id="5" name="Picture 4" descr="111899351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052736"/>
            <a:ext cx="1534115" cy="2311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5" name="Content Placeholder 6"/>
          <p:cNvSpPr txBox="1">
            <a:spLocks/>
          </p:cNvSpPr>
          <p:nvPr/>
        </p:nvSpPr>
        <p:spPr>
          <a:xfrm>
            <a:off x="323528" y="980728"/>
            <a:ext cx="8229600" cy="52894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Introduction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Properties of Wireless Links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Error Control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Naming and Addressing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Link Estimation Protocols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smtClean="0"/>
              <a:t>Link Quality Based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smtClean="0"/>
              <a:t>Delivery Rate Based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smtClean="0"/>
              <a:t>Passive and Active Estimators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Topology Control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smtClean="0"/>
              <a:t>Centralized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smtClean="0"/>
              <a:t>Distributed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endParaRPr lang="en-US" sz="2400" dirty="0" smtClean="0"/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endParaRPr lang="en-US" sz="2400" dirty="0" smtClean="0"/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9156379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820069"/>
            <a:ext cx="8229600" cy="3345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/>
              <a:t>Metrics for estimating quality of links:</a:t>
            </a:r>
          </a:p>
          <a:p>
            <a:r>
              <a:rPr lang="en-US" sz="2800" dirty="0" smtClean="0"/>
              <a:t>Packet Reception Ratio (PRR)</a:t>
            </a:r>
          </a:p>
          <a:p>
            <a:r>
              <a:rPr lang="en-US" sz="2800" dirty="0" smtClean="0"/>
              <a:t>Received Signal Strength Indicator (RSSI)</a:t>
            </a:r>
          </a:p>
          <a:p>
            <a:r>
              <a:rPr lang="en-US" sz="2800" dirty="0" smtClean="0"/>
              <a:t>Link Quality Indicator (LQI)</a:t>
            </a:r>
          </a:p>
          <a:p>
            <a:r>
              <a:rPr lang="en-US" sz="2800" dirty="0" smtClean="0"/>
              <a:t>Signal to Noise Ratio (SNR)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539552" y="1595933"/>
            <a:ext cx="7920880" cy="954107"/>
          </a:xfrm>
          <a:prstGeom prst="rect">
            <a:avLst/>
          </a:prstGeom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/>
                <a:cs typeface="Arial"/>
              </a:rPr>
              <a:t>A wireless link is unreliable, not symmetric, and highly  </a:t>
            </a:r>
            <a:r>
              <a:rPr lang="en-US" sz="2800" dirty="0" smtClean="0">
                <a:latin typeface="Arial"/>
                <a:cs typeface="Arial"/>
              </a:rPr>
              <a:t>fluctuates </a:t>
            </a:r>
            <a:r>
              <a:rPr lang="en-US" sz="2800" dirty="0">
                <a:latin typeface="Arial"/>
                <a:cs typeface="Arial"/>
              </a:rPr>
              <a:t>in time and space.</a:t>
            </a: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74172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 and Geographic Distance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7920880" cy="49704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51720" y="1115452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Effective communication zone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131840" y="1844824"/>
            <a:ext cx="2088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Transitional communication zone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580112" y="3297758"/>
            <a:ext cx="2088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Clear communication zone</a:t>
            </a:r>
            <a:endParaRPr lang="en-US" b="1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115616" y="1628800"/>
            <a:ext cx="698477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436096" y="1628800"/>
            <a:ext cx="0" cy="374441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0175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Asymmetric Links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340768"/>
            <a:ext cx="6048672" cy="409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665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Burstiness of 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9"/>
            <a:ext cx="8229600" cy="1296144"/>
          </a:xfrm>
        </p:spPr>
        <p:txBody>
          <a:bodyPr>
            <a:normAutofit/>
          </a:bodyPr>
          <a:lstStyle/>
          <a:p>
            <a:r>
              <a:rPr lang="en-US" sz="2400" dirty="0" smtClean="0"/>
              <a:t>Measured with </a:t>
            </a:r>
            <a:r>
              <a:rPr lang="en-US" sz="2400" b="1" i="1" dirty="0" smtClean="0"/>
              <a:t>Conditional Probability Delivery Function </a:t>
            </a:r>
            <a:r>
              <a:rPr lang="en-US" sz="2400" dirty="0" smtClean="0"/>
              <a:t>(CPDF)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610325"/>
            <a:ext cx="8692770" cy="290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846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Guarantee communication to be:</a:t>
            </a:r>
          </a:p>
          <a:p>
            <a:r>
              <a:rPr lang="en-US" dirty="0" smtClean="0"/>
              <a:t>Error-free</a:t>
            </a:r>
          </a:p>
          <a:p>
            <a:r>
              <a:rPr lang="en-US" dirty="0"/>
              <a:t>Loss-</a:t>
            </a:r>
            <a:r>
              <a:rPr lang="en-US" dirty="0" smtClean="0"/>
              <a:t>free</a:t>
            </a:r>
          </a:p>
          <a:p>
            <a:r>
              <a:rPr lang="en-US" dirty="0" smtClean="0"/>
              <a:t>(In-sequence)</a:t>
            </a:r>
          </a:p>
          <a:p>
            <a:r>
              <a:rPr lang="en-US" dirty="0" smtClean="0"/>
              <a:t>(Duplicate-free)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06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Backward Error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1584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Wait for the errors to happen and repair the problem:</a:t>
            </a:r>
          </a:p>
          <a:p>
            <a:r>
              <a:rPr lang="en-US" sz="2400" dirty="0" smtClean="0"/>
              <a:t>Checksum</a:t>
            </a:r>
            <a:r>
              <a:rPr lang="en-US" sz="2400" dirty="0"/>
              <a:t> </a:t>
            </a:r>
            <a:r>
              <a:rPr lang="en-US" sz="2400" dirty="0" smtClean="0"/>
              <a:t>or Cyclic Redundancy Checksum (CRC)</a:t>
            </a:r>
          </a:p>
          <a:p>
            <a:r>
              <a:rPr lang="en-US" sz="2400" dirty="0" smtClean="0"/>
              <a:t>Automatic Repeat Request or Retransmit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0" y="2564904"/>
            <a:ext cx="8437820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239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Forward Error Control (FEC)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11560" y="2435404"/>
            <a:ext cx="7632848" cy="2246769"/>
          </a:xfrm>
          <a:prstGeom prst="rect">
            <a:avLst/>
          </a:prstGeom>
          <a:ln>
            <a:solidFill>
              <a:srgbClr val="9BBB59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/>
                <a:cs typeface="Arial"/>
              </a:rPr>
              <a:t>Sending a new packet is very costly and uses not only energy, but also precious bandwidth. Sending a couple of more bits or bytes into a packet, which needs to get out anyway, is almost without cost.</a:t>
            </a: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4590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Forward Error Control (FEC)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848" y="764704"/>
            <a:ext cx="8229600" cy="7200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 smtClean="0"/>
              <a:t>Repeating Code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80" y="1412776"/>
            <a:ext cx="7682744" cy="3600400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251520" y="5373216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Problem: clustered errors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703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Forward Error Control (FEC)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7200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 smtClean="0"/>
              <a:t>Interleaving Code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631" y="2132856"/>
            <a:ext cx="9143342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17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Abstract Identification of Nodes</a:t>
            </a:r>
          </a:p>
          <a:p>
            <a:pPr lvl="1"/>
            <a:r>
              <a:rPr lang="en-US" dirty="0" smtClean="0"/>
              <a:t>A, B, C, etc.</a:t>
            </a:r>
          </a:p>
          <a:p>
            <a:pPr lvl="1"/>
            <a:r>
              <a:rPr lang="en-US" dirty="0" smtClean="0"/>
              <a:t>Mac Addresses of Devices</a:t>
            </a:r>
          </a:p>
          <a:p>
            <a:r>
              <a:rPr lang="en-US" dirty="0" smtClean="0"/>
              <a:t>Role or data identification</a:t>
            </a:r>
          </a:p>
          <a:p>
            <a:pPr lvl="1"/>
            <a:r>
              <a:rPr lang="en-US" dirty="0" smtClean="0"/>
              <a:t>Washing Machine 1, Heating in the Living Room</a:t>
            </a:r>
          </a:p>
          <a:p>
            <a:pPr lvl="1"/>
            <a:r>
              <a:rPr lang="en-US" dirty="0" smtClean="0"/>
              <a:t>Temperature, humidity, light</a:t>
            </a:r>
          </a:p>
          <a:p>
            <a:r>
              <a:rPr lang="en-US" dirty="0" smtClean="0"/>
              <a:t>Names can be unique or not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922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Addressing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Reveals the position of the node</a:t>
            </a:r>
          </a:p>
          <a:p>
            <a:pPr lvl="1"/>
            <a:r>
              <a:rPr lang="en-US" dirty="0" smtClean="0"/>
              <a:t>In the network</a:t>
            </a:r>
          </a:p>
          <a:p>
            <a:pPr lvl="1"/>
            <a:r>
              <a:rPr lang="en-US" dirty="0" smtClean="0"/>
              <a:t>In the geographic world</a:t>
            </a:r>
          </a:p>
          <a:p>
            <a:r>
              <a:rPr lang="en-US" dirty="0" smtClean="0"/>
              <a:t>Example: IP addresses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485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Name and Address 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Size and length</a:t>
            </a:r>
            <a:r>
              <a:rPr lang="en-US" sz="2800" dirty="0" smtClean="0"/>
              <a:t>: make sure you have enough addresses or names!</a:t>
            </a:r>
          </a:p>
          <a:p>
            <a:r>
              <a:rPr lang="en-US" sz="2800" b="1" dirty="0" smtClean="0"/>
              <a:t>Storage</a:t>
            </a:r>
            <a:r>
              <a:rPr lang="en-US" sz="2800" dirty="0" smtClean="0"/>
              <a:t>: store in volatile or persistent memory</a:t>
            </a:r>
          </a:p>
          <a:p>
            <a:r>
              <a:rPr lang="en-US" sz="2800" b="1" dirty="0" smtClean="0"/>
              <a:t>Positioning and Repositioning</a:t>
            </a:r>
            <a:r>
              <a:rPr lang="en-US" sz="2800" dirty="0" smtClean="0"/>
              <a:t>: change the name/address if the node moves or changes its role</a:t>
            </a:r>
          </a:p>
          <a:p>
            <a:r>
              <a:rPr lang="en-US" sz="2800" b="1" dirty="0" smtClean="0"/>
              <a:t>Uniqueness</a:t>
            </a:r>
            <a:r>
              <a:rPr lang="en-US" sz="2800" dirty="0" smtClean="0"/>
              <a:t>: it is more practical to have unique names and addresses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70150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 Estimation Protocols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Protocol which gathers link quality information about neighbors</a:t>
            </a:r>
          </a:p>
          <a:p>
            <a:r>
              <a:rPr lang="en-US" dirty="0" smtClean="0"/>
              <a:t>Marks the neighbors as “good”, “average” and “bad”</a:t>
            </a:r>
          </a:p>
          <a:p>
            <a:r>
              <a:rPr lang="en-US" dirty="0" smtClean="0"/>
              <a:t>Same as Neighborhood Management Protocol</a:t>
            </a:r>
          </a:p>
          <a:p>
            <a:r>
              <a:rPr lang="en-US" dirty="0" smtClean="0"/>
              <a:t>Design criteria:</a:t>
            </a:r>
          </a:p>
          <a:p>
            <a:pPr lvl="1"/>
            <a:r>
              <a:rPr lang="en-US" dirty="0" smtClean="0"/>
              <a:t>Precision</a:t>
            </a:r>
          </a:p>
          <a:p>
            <a:pPr lvl="1"/>
            <a:r>
              <a:rPr lang="en-US" dirty="0" smtClean="0"/>
              <a:t>Agility</a:t>
            </a:r>
          </a:p>
          <a:p>
            <a:pPr lvl="1"/>
            <a:r>
              <a:rPr lang="en-US" dirty="0" smtClean="0"/>
              <a:t>Stability</a:t>
            </a:r>
          </a:p>
          <a:p>
            <a:pPr lvl="1"/>
            <a:r>
              <a:rPr lang="en-US" dirty="0" smtClean="0"/>
              <a:t>Efficiency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716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 Quality Based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Use RSSI or LQI (or similar or combinations thereof)</a:t>
            </a:r>
          </a:p>
          <a:p>
            <a:r>
              <a:rPr lang="en-US" sz="2800" dirty="0" smtClean="0"/>
              <a:t>Example: all links with RSSI &gt; -60 are considered very good links</a:t>
            </a:r>
          </a:p>
          <a:p>
            <a:r>
              <a:rPr lang="en-US" sz="2800" dirty="0" smtClean="0"/>
              <a:t>Discussion of properties:</a:t>
            </a:r>
          </a:p>
          <a:p>
            <a:pPr lvl="1"/>
            <a:r>
              <a:rPr lang="en-US" sz="2400" dirty="0" smtClean="0"/>
              <a:t>Precision: not good</a:t>
            </a:r>
          </a:p>
          <a:p>
            <a:pPr lvl="1"/>
            <a:r>
              <a:rPr lang="en-US" sz="2400" dirty="0" smtClean="0"/>
              <a:t>Agility: rather good</a:t>
            </a:r>
          </a:p>
          <a:p>
            <a:pPr lvl="1"/>
            <a:r>
              <a:rPr lang="en-US" sz="2400" dirty="0" smtClean="0"/>
              <a:t>Stability: not good</a:t>
            </a:r>
          </a:p>
          <a:p>
            <a:pPr lvl="1"/>
            <a:r>
              <a:rPr lang="en-US" sz="2400" dirty="0" smtClean="0"/>
              <a:t>Efficiency: good for memory/communication overhead, average for processing needs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49025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Delivery Rate Based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Send many packets to all neighbors and estimate directly the delivery rate</a:t>
            </a:r>
          </a:p>
          <a:p>
            <a:r>
              <a:rPr lang="en-US" sz="2800" dirty="0"/>
              <a:t>Discussion of properties:</a:t>
            </a:r>
          </a:p>
          <a:p>
            <a:pPr lvl="1"/>
            <a:r>
              <a:rPr lang="en-US" sz="2400" dirty="0"/>
              <a:t>Precision: </a:t>
            </a:r>
            <a:r>
              <a:rPr lang="en-US" sz="2400" dirty="0" smtClean="0"/>
              <a:t>quite good</a:t>
            </a:r>
            <a:endParaRPr lang="en-US" sz="2400" dirty="0"/>
          </a:p>
          <a:p>
            <a:pPr lvl="1"/>
            <a:r>
              <a:rPr lang="en-US" sz="2400" dirty="0"/>
              <a:t>Agility: </a:t>
            </a:r>
            <a:r>
              <a:rPr lang="en-US" sz="2400" dirty="0" smtClean="0"/>
              <a:t>not good, depends on recalculation window</a:t>
            </a:r>
            <a:endParaRPr lang="en-US" sz="2400" dirty="0"/>
          </a:p>
          <a:p>
            <a:pPr lvl="1"/>
            <a:r>
              <a:rPr lang="en-US" sz="2400" dirty="0"/>
              <a:t>Stability: </a:t>
            </a:r>
            <a:r>
              <a:rPr lang="en-US" sz="2400" dirty="0" smtClean="0"/>
              <a:t>good, opposite to agility, depends on recalculation window</a:t>
            </a:r>
            <a:endParaRPr lang="en-US" sz="2400" dirty="0"/>
          </a:p>
          <a:p>
            <a:pPr lvl="1"/>
            <a:r>
              <a:rPr lang="en-US" sz="2400" dirty="0"/>
              <a:t>Efficiency: </a:t>
            </a:r>
            <a:r>
              <a:rPr lang="en-US" sz="2400" dirty="0" smtClean="0"/>
              <a:t>not good </a:t>
            </a:r>
            <a:r>
              <a:rPr lang="en-US" sz="2400" dirty="0"/>
              <a:t>for memory/communication overhead, </a:t>
            </a:r>
            <a:r>
              <a:rPr lang="en-US" sz="2400" dirty="0" smtClean="0"/>
              <a:t>good for </a:t>
            </a:r>
            <a:r>
              <a:rPr lang="en-US" sz="2400" dirty="0"/>
              <a:t>processing needs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694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Passive and Active Estimators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Passive Snooping: Observe existing packets only</a:t>
            </a:r>
          </a:p>
          <a:p>
            <a:pPr lvl="1"/>
            <a:r>
              <a:rPr lang="en-US" dirty="0" smtClean="0"/>
              <a:t>Very efficient</a:t>
            </a:r>
          </a:p>
          <a:p>
            <a:pPr lvl="1"/>
            <a:r>
              <a:rPr lang="en-US" dirty="0" smtClean="0"/>
              <a:t>Not very precise or agile</a:t>
            </a:r>
          </a:p>
          <a:p>
            <a:r>
              <a:rPr lang="en-US" dirty="0" smtClean="0"/>
              <a:t>Active Sending: Produce additional packets and observe their properties</a:t>
            </a:r>
          </a:p>
          <a:p>
            <a:pPr lvl="1"/>
            <a:r>
              <a:rPr lang="en-US" dirty="0" smtClean="0"/>
              <a:t>Very agile and precise</a:t>
            </a:r>
          </a:p>
          <a:p>
            <a:pPr lvl="1"/>
            <a:r>
              <a:rPr lang="en-US" dirty="0" smtClean="0"/>
              <a:t>Not efficient </a:t>
            </a:r>
          </a:p>
          <a:p>
            <a:r>
              <a:rPr lang="en-US" dirty="0" smtClean="0"/>
              <a:t>Usually protocols are combination thereof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887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Collection Tree Protocol (CTP)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7861"/>
            <a:ext cx="8229600" cy="51454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 smtClean="0"/>
              <a:t>CTP consists of a link estimator and a routing part.</a:t>
            </a:r>
          </a:p>
          <a:p>
            <a:r>
              <a:rPr lang="en-US" sz="2400" dirty="0" smtClean="0"/>
              <a:t>Uses ETX: A network-wide metric, which computes how many hops on average a node needs to reach the sink</a:t>
            </a:r>
          </a:p>
          <a:p>
            <a:r>
              <a:rPr lang="en-US" sz="2400" dirty="0" smtClean="0"/>
              <a:t>Defines a sending interval </a:t>
            </a:r>
            <a:r>
              <a:rPr lang="en-US" sz="2400" dirty="0" err="1" smtClean="0"/>
              <a:t>σ</a:t>
            </a:r>
            <a:r>
              <a:rPr lang="en-US" sz="2400" baseline="-25000" dirty="0" err="1" smtClean="0"/>
              <a:t>low</a:t>
            </a:r>
            <a:r>
              <a:rPr lang="en-US" sz="2400" dirty="0"/>
              <a:t> </a:t>
            </a:r>
            <a:r>
              <a:rPr lang="en-US" sz="2400" dirty="0" smtClean="0"/>
              <a:t>to balance passive snooping and active sending</a:t>
            </a:r>
          </a:p>
          <a:p>
            <a:r>
              <a:rPr lang="en-US" sz="2400" dirty="0" smtClean="0"/>
              <a:t>Another interval </a:t>
            </a:r>
            <a:r>
              <a:rPr lang="en-US" sz="2400" dirty="0" err="1"/>
              <a:t>σ</a:t>
            </a:r>
            <a:r>
              <a:rPr lang="en-US" sz="2400" baseline="-25000" dirty="0" err="1"/>
              <a:t>low</a:t>
            </a:r>
            <a:r>
              <a:rPr lang="en-US" sz="2400" dirty="0"/>
              <a:t> </a:t>
            </a:r>
            <a:r>
              <a:rPr lang="en-US" sz="2400" dirty="0" smtClean="0"/>
              <a:t>is used to register changes in the network </a:t>
            </a:r>
          </a:p>
          <a:p>
            <a:r>
              <a:rPr lang="en-US" sz="2400" dirty="0" smtClean="0"/>
              <a:t>Explores each neighbor in terms of its ETX to the sink</a:t>
            </a:r>
          </a:p>
          <a:p>
            <a:r>
              <a:rPr lang="en-US" sz="2400" dirty="0" smtClean="0"/>
              <a:t>Sends regularly packets with own ETX to sink to all neighbors</a:t>
            </a:r>
          </a:p>
          <a:p>
            <a:pPr lvl="1"/>
            <a:endParaRPr lang="en-US" sz="2000" dirty="0" smtClean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31700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Topology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topology (the neighborhood, the “visible” neighbors” can be controlled:</a:t>
            </a:r>
          </a:p>
          <a:p>
            <a:pPr lvl="1"/>
            <a:r>
              <a:rPr lang="en-US" dirty="0" smtClean="0"/>
              <a:t>Directly by changing the transmission  power (saves energy)</a:t>
            </a:r>
          </a:p>
          <a:p>
            <a:pPr lvl="1"/>
            <a:r>
              <a:rPr lang="en-US" dirty="0" smtClean="0"/>
              <a:t>Indirectly by ignoring some neighbors with low quality (not often used)</a:t>
            </a:r>
          </a:p>
          <a:p>
            <a:r>
              <a:rPr lang="en-US" dirty="0" smtClean="0"/>
              <a:t>Main Challenges:</a:t>
            </a:r>
          </a:p>
          <a:p>
            <a:pPr lvl="1"/>
            <a:r>
              <a:rPr lang="en-US" dirty="0" smtClean="0"/>
              <a:t>Asymmetric Links</a:t>
            </a:r>
          </a:p>
          <a:p>
            <a:pPr lvl="1"/>
            <a:r>
              <a:rPr lang="en-US" dirty="0" smtClean="0"/>
              <a:t>Directional Links</a:t>
            </a:r>
          </a:p>
          <a:p>
            <a:pPr lvl="1"/>
            <a:r>
              <a:rPr lang="en-US" dirty="0" smtClean="0"/>
              <a:t>Discovery of neighbors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10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Centralized Topology Control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Gather all information about all nodes at the sink</a:t>
            </a:r>
          </a:p>
          <a:p>
            <a:r>
              <a:rPr lang="en-US" dirty="0" smtClean="0"/>
              <a:t>Compute the optimal / desired topology and the corresponding parameters</a:t>
            </a:r>
          </a:p>
          <a:p>
            <a:r>
              <a:rPr lang="en-US" dirty="0" smtClean="0"/>
              <a:t>Send the parameters to all nodes</a:t>
            </a:r>
          </a:p>
          <a:p>
            <a:r>
              <a:rPr lang="en-US" dirty="0" smtClean="0"/>
              <a:t>Discussion:</a:t>
            </a:r>
          </a:p>
          <a:p>
            <a:pPr lvl="1"/>
            <a:r>
              <a:rPr lang="en-US" dirty="0" smtClean="0"/>
              <a:t>Very complex to obtain all data (link quality at different transmission powers)</a:t>
            </a:r>
          </a:p>
          <a:p>
            <a:pPr lvl="1"/>
            <a:r>
              <a:rPr lang="en-US" dirty="0" smtClean="0"/>
              <a:t>Not agile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163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Topology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/>
          <a:lstStyle/>
          <a:p>
            <a:r>
              <a:rPr lang="en-US" dirty="0" smtClean="0"/>
              <a:t>Each node tries out different transmission power</a:t>
            </a:r>
          </a:p>
          <a:p>
            <a:r>
              <a:rPr lang="en-US" dirty="0" smtClean="0"/>
              <a:t>Each node observes the link quality to neighbors and decides on its own</a:t>
            </a:r>
          </a:p>
          <a:p>
            <a:r>
              <a:rPr lang="en-US" dirty="0" smtClean="0"/>
              <a:t>Discussion:</a:t>
            </a:r>
          </a:p>
          <a:p>
            <a:pPr lvl="1"/>
            <a:r>
              <a:rPr lang="en-US" dirty="0" smtClean="0"/>
              <a:t>More flexible and situation-aware</a:t>
            </a:r>
          </a:p>
          <a:p>
            <a:pPr lvl="1"/>
            <a:r>
              <a:rPr lang="en-US" dirty="0" smtClean="0"/>
              <a:t>Very complex and might never stabilize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028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Link Management: </a:t>
            </a:r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640960" cy="5145435"/>
          </a:xfrm>
        </p:spPr>
        <p:txBody>
          <a:bodyPr>
            <a:noAutofit/>
          </a:bodyPr>
          <a:lstStyle/>
          <a:p>
            <a:r>
              <a:rPr lang="en-US" sz="1800" dirty="0"/>
              <a:t>Quality is not linear with geographic </a:t>
            </a:r>
            <a:r>
              <a:rPr lang="en-US" sz="1800" dirty="0" smtClean="0"/>
              <a:t>distance.</a:t>
            </a:r>
            <a:endParaRPr lang="en-US" sz="1800" dirty="0"/>
          </a:p>
          <a:p>
            <a:r>
              <a:rPr lang="en-US" sz="1800" dirty="0" smtClean="0"/>
              <a:t>Asymmetry </a:t>
            </a:r>
            <a:r>
              <a:rPr lang="en-US" sz="1800" dirty="0"/>
              <a:t>exists, where quality is different in both </a:t>
            </a:r>
            <a:r>
              <a:rPr lang="en-US" sz="1800" dirty="0" smtClean="0"/>
              <a:t>directions.</a:t>
            </a:r>
          </a:p>
          <a:p>
            <a:r>
              <a:rPr lang="en-US" sz="1800" dirty="0" smtClean="0"/>
              <a:t>Wireless </a:t>
            </a:r>
            <a:r>
              <a:rPr lang="en-US" sz="1800" dirty="0"/>
              <a:t>links are </a:t>
            </a:r>
            <a:r>
              <a:rPr lang="en-US" sz="1800" dirty="0" err="1"/>
              <a:t>bursty</a:t>
            </a:r>
            <a:r>
              <a:rPr lang="en-US" sz="1800" dirty="0"/>
              <a:t>, i.e., bit errors occur not independently. 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Link </a:t>
            </a:r>
            <a:r>
              <a:rPr lang="en-US" sz="1800" dirty="0"/>
              <a:t>management involves several tasks: </a:t>
            </a:r>
            <a:endParaRPr lang="en-US" sz="1800" dirty="0"/>
          </a:p>
          <a:p>
            <a:r>
              <a:rPr lang="en-US" sz="1800" b="1" dirty="0"/>
              <a:t>Error control </a:t>
            </a:r>
            <a:r>
              <a:rPr lang="en-US" sz="1800" dirty="0"/>
              <a:t>differentiates between </a:t>
            </a:r>
            <a:r>
              <a:rPr lang="en-US" sz="1800" i="1" dirty="0"/>
              <a:t>forward error control </a:t>
            </a:r>
            <a:r>
              <a:rPr lang="en-US" sz="1800" dirty="0"/>
              <a:t>and </a:t>
            </a:r>
            <a:r>
              <a:rPr lang="en-US" sz="1800" i="1" dirty="0"/>
              <a:t>backward error control. </a:t>
            </a:r>
            <a:endParaRPr lang="en-US" sz="1800" i="1" dirty="0" smtClean="0"/>
          </a:p>
          <a:p>
            <a:r>
              <a:rPr lang="en-US" sz="1800" dirty="0" smtClean="0"/>
              <a:t>You </a:t>
            </a:r>
            <a:r>
              <a:rPr lang="en-US" sz="1800" dirty="0"/>
              <a:t>assign unique </a:t>
            </a:r>
            <a:r>
              <a:rPr lang="en-US" sz="1800" b="1" dirty="0"/>
              <a:t>names </a:t>
            </a:r>
            <a:r>
              <a:rPr lang="en-US" sz="1800" dirty="0"/>
              <a:t>to individual nodes, which refer to their role or properties, and </a:t>
            </a:r>
            <a:r>
              <a:rPr lang="en-US" sz="1800" b="1" dirty="0"/>
              <a:t>addresses</a:t>
            </a:r>
            <a:r>
              <a:rPr lang="en-US" sz="1800" dirty="0"/>
              <a:t>, which refer to their positions. </a:t>
            </a:r>
            <a:endParaRPr lang="en-US" sz="1800" dirty="0"/>
          </a:p>
          <a:p>
            <a:r>
              <a:rPr lang="en-US" sz="1800" b="1" dirty="0"/>
              <a:t>Link estimation </a:t>
            </a:r>
            <a:r>
              <a:rPr lang="en-US" sz="1800" dirty="0"/>
              <a:t>refers to maintaining quality indicators for individual neighbors. It can be delivery rate based or link quality based. </a:t>
            </a:r>
            <a:r>
              <a:rPr lang="en-US" sz="1800" dirty="0" smtClean="0"/>
              <a:t>Link </a:t>
            </a:r>
            <a:r>
              <a:rPr lang="en-US" sz="1800" dirty="0"/>
              <a:t>estimation can be </a:t>
            </a:r>
            <a:r>
              <a:rPr lang="en-US" sz="1800" i="1" dirty="0"/>
              <a:t>passive </a:t>
            </a:r>
            <a:r>
              <a:rPr lang="en-US" sz="1800" dirty="0"/>
              <a:t>(overhear existing communication only) and </a:t>
            </a:r>
            <a:r>
              <a:rPr lang="en-US" sz="1800" i="1" dirty="0"/>
              <a:t>active </a:t>
            </a:r>
            <a:r>
              <a:rPr lang="en-US" sz="1800" dirty="0"/>
              <a:t>(creating its own communication). CTP uses a delivery rate based link estimator. Link estimation has to </a:t>
            </a:r>
            <a:r>
              <a:rPr lang="en-US" sz="1800" dirty="0" smtClean="0"/>
              <a:t>fulfill </a:t>
            </a:r>
            <a:r>
              <a:rPr lang="en-US" sz="1800" dirty="0"/>
              <a:t>the following </a:t>
            </a:r>
            <a:r>
              <a:rPr lang="en-US" sz="1800" dirty="0" smtClean="0"/>
              <a:t>properties: </a:t>
            </a:r>
            <a:r>
              <a:rPr lang="en-US" sz="1800" i="1" dirty="0"/>
              <a:t>precision, agility, stability</a:t>
            </a:r>
            <a:r>
              <a:rPr lang="en-US" sz="1800" dirty="0"/>
              <a:t>, and </a:t>
            </a:r>
            <a:r>
              <a:rPr lang="en-US" sz="1800" i="1" dirty="0" smtClean="0"/>
              <a:t>efficiency. </a:t>
            </a:r>
            <a:endParaRPr lang="en-US" sz="1800" dirty="0"/>
          </a:p>
          <a:p>
            <a:r>
              <a:rPr lang="en-US" sz="1800" b="1" dirty="0"/>
              <a:t>Topology control </a:t>
            </a:r>
            <a:r>
              <a:rPr lang="en-US" sz="1800" dirty="0"/>
              <a:t>plays with the transmission power of individual nodes to change their communication neighbors. It can be designed to be </a:t>
            </a:r>
            <a:r>
              <a:rPr lang="en-US" sz="1800" i="1" dirty="0"/>
              <a:t>centralized </a:t>
            </a:r>
            <a:r>
              <a:rPr lang="en-US" sz="1800" dirty="0"/>
              <a:t>(one node decides about the transmission power of all) or </a:t>
            </a:r>
            <a:r>
              <a:rPr lang="en-US" sz="1800" i="1" dirty="0"/>
              <a:t>distributed </a:t>
            </a:r>
            <a:r>
              <a:rPr lang="en-US" sz="1800" dirty="0"/>
              <a:t>(each node decides on its own).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029417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comnets_ppt_theme_gru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comnets_ppt_theme_gruen.potx</Template>
  <TotalTime>8581</TotalTime>
  <Words>949</Words>
  <Application>Microsoft Macintosh PowerPoint</Application>
  <PresentationFormat>On-screen Show (4:3)</PresentationFormat>
  <Paragraphs>138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comnets_ppt_theme_gruen</vt:lpstr>
      <vt:lpstr>INTRODUCTION TO  WIRELESS SENSOR NETWORKS</vt:lpstr>
      <vt:lpstr>OVERVIEW</vt:lpstr>
      <vt:lpstr>Introduction</vt:lpstr>
      <vt:lpstr>Links and Geographic Distance</vt:lpstr>
      <vt:lpstr>Asymmetric Links</vt:lpstr>
      <vt:lpstr>Burstiness of Links</vt:lpstr>
      <vt:lpstr>Error Control</vt:lpstr>
      <vt:lpstr>Backward Error Control</vt:lpstr>
      <vt:lpstr>Forward Error Control (FEC)</vt:lpstr>
      <vt:lpstr>Forward Error Control (FEC)</vt:lpstr>
      <vt:lpstr>Forward Error Control (FEC)</vt:lpstr>
      <vt:lpstr>Naming</vt:lpstr>
      <vt:lpstr>Addressing</vt:lpstr>
      <vt:lpstr>Name and Address Assignment</vt:lpstr>
      <vt:lpstr>Link Estimation Protocols</vt:lpstr>
      <vt:lpstr>Link Quality Based</vt:lpstr>
      <vt:lpstr>Delivery Rate Based</vt:lpstr>
      <vt:lpstr>Passive and Active Estimators</vt:lpstr>
      <vt:lpstr>Collection Tree Protocol (CTP)</vt:lpstr>
      <vt:lpstr>Topology Control</vt:lpstr>
      <vt:lpstr>Centralized Topology Control </vt:lpstr>
      <vt:lpstr>Distributed Topology Control</vt:lpstr>
      <vt:lpstr>Link Management: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Sarah</dc:creator>
  <cp:lastModifiedBy>Anna Förster</cp:lastModifiedBy>
  <cp:revision>230</cp:revision>
  <dcterms:created xsi:type="dcterms:W3CDTF">2015-07-16T14:19:04Z</dcterms:created>
  <dcterms:modified xsi:type="dcterms:W3CDTF">2018-03-31T08:55:37Z</dcterms:modified>
</cp:coreProperties>
</file>