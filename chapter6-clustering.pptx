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73" r:id="rId14"/>
    <p:sldId id="285" r:id="rId15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77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9051" autoAdjust="0"/>
  </p:normalViewPr>
  <p:slideViewPr>
    <p:cSldViewPr>
      <p:cViewPr varScale="1">
        <p:scale>
          <a:sx n="121" d="100"/>
          <a:sy n="121" d="100"/>
        </p:scale>
        <p:origin x="-1000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interSettings" Target="printerSettings/printerSettings1.bin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27BCF-15D2-D548-9FD8-58FD9160F476}" type="datetimeFigureOut">
              <a:rPr lang="en-US" smtClean="0"/>
              <a:t>31.03.18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22A97-2FC2-9B4E-B45A-926C23B3A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9989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94272-E92C-C846-A641-780E56020FA0}" type="datetimeFigureOut">
              <a:rPr lang="en-US" smtClean="0"/>
              <a:t>31.03.18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EDB47-CFE0-724D-8A5B-56F53A960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465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Click to edit Master subtitle style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uk-UA" smtClean="0"/>
              <a:t>‹#›</a:t>
            </a:r>
            <a:endParaRPr lang="de-DE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 smtClean="0"/>
              <a:t>CLICK TO EDIT MASTER TITLE STYLE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fld id="{3FA8C6BC-68DF-4D5B-A1B8-9D6BE84E80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Rectangle 5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 smtClean="0"/>
              <a:t>CLICK TO EDIT MASTER TITLE STYLE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Clr>
                <a:srgbClr val="3C7704"/>
              </a:buClr>
              <a:buFont typeface="+mj-lt"/>
              <a:buAutoNum type="arabicPeriod"/>
              <a:defRPr/>
            </a:lvl1pPr>
            <a:lvl2pPr marL="971550" indent="-514350">
              <a:buClr>
                <a:srgbClr val="3C7704"/>
              </a:buClr>
              <a:buFont typeface="+mj-lt"/>
              <a:buAutoNum type="arabicPeriod"/>
              <a:defRPr/>
            </a:lvl2pPr>
            <a:lvl3pPr marL="1371600" indent="-457200">
              <a:buClr>
                <a:srgbClr val="3C7704"/>
              </a:buClr>
              <a:buFont typeface="+mj-lt"/>
              <a:buAutoNum type="arabicPeriod"/>
              <a:defRPr/>
            </a:lvl3pPr>
            <a:lvl4pPr marL="1828800" indent="-457200">
              <a:buClr>
                <a:srgbClr val="3C7704"/>
              </a:buClr>
              <a:buFont typeface="+mj-lt"/>
              <a:buAutoNum type="arabicPeriod"/>
              <a:defRPr/>
            </a:lvl4pPr>
            <a:lvl5pPr marL="2286000" indent="-457200">
              <a:buClr>
                <a:srgbClr val="3C7704"/>
              </a:buClr>
              <a:buFont typeface="+mj-lt"/>
              <a:buAutoNum type="arabicPeriod"/>
              <a:defRPr/>
            </a:lvl5pPr>
          </a:lstStyle>
          <a:p>
            <a:pPr lvl="0"/>
            <a:r>
              <a:rPr lang="de-DE" dirty="0" smtClean="0"/>
              <a:t>Click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edit</a:t>
            </a:r>
            <a:r>
              <a:rPr lang="de-DE" dirty="0" smtClean="0"/>
              <a:t> Master </a:t>
            </a:r>
            <a:r>
              <a:rPr lang="de-DE" dirty="0" err="1" smtClean="0"/>
              <a:t>text</a:t>
            </a:r>
            <a:r>
              <a:rPr lang="de-DE" dirty="0" smtClean="0"/>
              <a:t> </a:t>
            </a:r>
            <a:r>
              <a:rPr lang="de-DE" dirty="0" err="1" smtClean="0"/>
              <a:t>styles</a:t>
            </a:r>
            <a:endParaRPr lang="de-DE" dirty="0" smtClean="0"/>
          </a:p>
          <a:p>
            <a:pPr lvl="1"/>
            <a:r>
              <a:rPr lang="de-DE" dirty="0" smtClean="0"/>
              <a:t>Second </a:t>
            </a:r>
            <a:r>
              <a:rPr lang="de-DE" dirty="0" err="1" smtClean="0"/>
              <a:t>level</a:t>
            </a:r>
            <a:endParaRPr lang="de-DE" dirty="0" smtClean="0"/>
          </a:p>
          <a:p>
            <a:pPr lvl="2"/>
            <a:r>
              <a:rPr lang="de-DE" dirty="0" smtClean="0"/>
              <a:t>Third </a:t>
            </a:r>
            <a:r>
              <a:rPr lang="de-DE" dirty="0" err="1" smtClean="0"/>
              <a:t>level</a:t>
            </a:r>
            <a:endParaRPr lang="de-DE" dirty="0" smtClean="0"/>
          </a:p>
          <a:p>
            <a:pPr lvl="3"/>
            <a:r>
              <a:rPr lang="de-DE" dirty="0" err="1" smtClean="0"/>
              <a:t>Fourth</a:t>
            </a:r>
            <a:r>
              <a:rPr lang="de-DE" dirty="0" smtClean="0"/>
              <a:t> </a:t>
            </a:r>
            <a:r>
              <a:rPr lang="de-DE" dirty="0" err="1" smtClean="0"/>
              <a:t>level</a:t>
            </a:r>
            <a:endParaRPr lang="de-DE" dirty="0" smtClean="0"/>
          </a:p>
          <a:p>
            <a:pPr lvl="4"/>
            <a:r>
              <a:rPr lang="de-DE" dirty="0" err="1" smtClean="0"/>
              <a:t>Fifth</a:t>
            </a:r>
            <a:r>
              <a:rPr lang="de-DE" dirty="0" smtClean="0"/>
              <a:t> </a:t>
            </a:r>
            <a:r>
              <a:rPr lang="de-DE" dirty="0" err="1" smtClean="0"/>
              <a:t>level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fld id="{3FA8C6BC-68DF-4D5B-A1B8-9D6BE84E80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Rectangle 5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6809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fld id="{3FA8C6BC-68DF-4D5B-A1B8-9D6BE84E80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fld id="{3FA8C6BC-68DF-4D5B-A1B8-9D6BE84E80B6}" type="slidenum">
              <a:rPr lang="de-DE" smtClean="0"/>
              <a:pPr/>
              <a:t>‹#›</a:t>
            </a:fld>
            <a:endParaRPr lang="de-DE" dirty="0" smtClean="0"/>
          </a:p>
        </p:txBody>
      </p:sp>
      <p:sp>
        <p:nvSpPr>
          <p:cNvPr id="7" name="Rectangle 6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uk-UA" smtClean="0"/>
              <a:t>‹#›</a:t>
            </a:r>
            <a:endParaRPr lang="de-DE" dirty="0"/>
          </a:p>
        </p:txBody>
      </p:sp>
      <p:sp>
        <p:nvSpPr>
          <p:cNvPr id="5" name="Rectangle 4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uk-UA" smtClean="0"/>
              <a:t>‹#›</a:t>
            </a:r>
            <a:endParaRPr lang="de-DE" dirty="0"/>
          </a:p>
        </p:txBody>
      </p:sp>
      <p:sp>
        <p:nvSpPr>
          <p:cNvPr id="4" name="Rectangle 3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3.emf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Relationship Id="rId10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4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 smtClean="0"/>
              <a:t>Click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edit</a:t>
            </a:r>
            <a:r>
              <a:rPr lang="de-DE" dirty="0" smtClean="0"/>
              <a:t> Master title style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80728"/>
            <a:ext cx="8229600" cy="51454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-108520" y="6165304"/>
            <a:ext cx="2880320" cy="6926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53008" y="6237312"/>
            <a:ext cx="990600" cy="482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259632" y="6309320"/>
            <a:ext cx="1181100" cy="355600"/>
          </a:xfrm>
          <a:prstGeom prst="rect">
            <a:avLst/>
          </a:prstGeom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148064" y="638132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DD6B2-4EAD-7646-BE25-47CB62D96D2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2" r:id="rId5"/>
    <p:sldLayoutId id="2147483654" r:id="rId6"/>
    <p:sldLayoutId id="2147483655" r:id="rId7"/>
  </p:sldLayoutIdLst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Tx/>
        <a:buBlip>
          <a:blip r:embed="rId12"/>
        </a:buBlip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Tx/>
        <a:buBlip>
          <a:blip r:embed="rId12"/>
        </a:buBlip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Tx/>
        <a:buBlip>
          <a:blip r:embed="rId12"/>
        </a:buBlip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Tx/>
        <a:buBlip>
          <a:blip r:embed="rId12"/>
        </a:buBlip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Tx/>
        <a:buBlip>
          <a:blip r:embed="rId12"/>
        </a:buBlip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8720" y="620688"/>
            <a:ext cx="6119664" cy="1470025"/>
          </a:xfrm>
        </p:spPr>
        <p:txBody>
          <a:bodyPr/>
          <a:lstStyle/>
          <a:p>
            <a:r>
              <a:rPr lang="de-DE" sz="2400" dirty="0" smtClean="0">
                <a:latin typeface="Arial"/>
                <a:cs typeface="Arial"/>
              </a:rPr>
              <a:t>INTRODUCTION TO </a:t>
            </a:r>
            <a:br>
              <a:rPr lang="de-DE" sz="2400" dirty="0" smtClean="0">
                <a:latin typeface="Arial"/>
                <a:cs typeface="Arial"/>
              </a:rPr>
            </a:br>
            <a:r>
              <a:rPr lang="de-DE" sz="2400" dirty="0" smtClean="0">
                <a:latin typeface="Arial"/>
                <a:cs typeface="Arial"/>
              </a:rPr>
              <a:t>WIRELESS SENSOR NETWORKS</a:t>
            </a:r>
            <a:endParaRPr lang="de-DE" sz="2400" dirty="0">
              <a:latin typeface="Arial"/>
              <a:cs typeface="Arial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544" y="3620616"/>
            <a:ext cx="8208912" cy="1752600"/>
          </a:xfrm>
        </p:spPr>
        <p:txBody>
          <a:bodyPr/>
          <a:lstStyle/>
          <a:p>
            <a:r>
              <a:rPr lang="de-DE" dirty="0" smtClean="0"/>
              <a:t>CHAPTER </a:t>
            </a:r>
            <a:r>
              <a:rPr lang="de-DE" dirty="0" smtClean="0"/>
              <a:t>6: 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 smtClean="0"/>
              <a:t>DATA AGGREGATION AND CLUSTERING</a:t>
            </a:r>
            <a:endParaRPr lang="de-DE" dirty="0"/>
          </a:p>
        </p:txBody>
      </p:sp>
      <p:sp>
        <p:nvSpPr>
          <p:cNvPr id="4" name="TextBox 3"/>
          <p:cNvSpPr txBox="1"/>
          <p:nvPr/>
        </p:nvSpPr>
        <p:spPr>
          <a:xfrm>
            <a:off x="3419872" y="4653136"/>
            <a:ext cx="233589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Anna Förster</a:t>
            </a:r>
            <a:endParaRPr lang="en-US" sz="3200" dirty="0"/>
          </a:p>
        </p:txBody>
      </p:sp>
      <p:pic>
        <p:nvPicPr>
          <p:cNvPr id="5" name="Picture 4" descr="111899351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052736"/>
            <a:ext cx="1534115" cy="2311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5" name="Content Placeholder 6"/>
          <p:cNvSpPr txBox="1">
            <a:spLocks/>
          </p:cNvSpPr>
          <p:nvPr/>
        </p:nvSpPr>
        <p:spPr>
          <a:xfrm>
            <a:off x="323528" y="980728"/>
            <a:ext cx="8229600" cy="52894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400" dirty="0" smtClean="0"/>
              <a:t>Clustering Techniques</a:t>
            </a:r>
          </a:p>
          <a:p>
            <a:pPr marL="914400" lvl="1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1600" dirty="0" smtClean="0"/>
              <a:t>Random Clustering</a:t>
            </a:r>
          </a:p>
          <a:p>
            <a:pPr marL="914400" lvl="1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1600" dirty="0" smtClean="0"/>
              <a:t>Nearest Sink</a:t>
            </a:r>
          </a:p>
          <a:p>
            <a:pPr marL="914400" lvl="1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1600" dirty="0" smtClean="0"/>
              <a:t>Geographic Clustering</a:t>
            </a:r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000" dirty="0" smtClean="0"/>
              <a:t>In-Network Processing and Data Aggregation</a:t>
            </a:r>
          </a:p>
          <a:p>
            <a:pPr marL="914400" lvl="1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1600" dirty="0" smtClean="0"/>
              <a:t>Compression</a:t>
            </a:r>
          </a:p>
          <a:p>
            <a:pPr marL="914400" lvl="1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1600" dirty="0" smtClean="0"/>
              <a:t>Statistical Techniques</a:t>
            </a:r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000" dirty="0" smtClean="0"/>
              <a:t>Compressive Sampling</a:t>
            </a:r>
            <a:endParaRPr lang="en-US" sz="2000" dirty="0" smtClean="0"/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endParaRPr lang="en-US" sz="2400" dirty="0" smtClean="0"/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0279479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Clustering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9"/>
            <a:ext cx="8229600" cy="50405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Developed to handle very large networks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772816"/>
            <a:ext cx="5966036" cy="380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359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 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1800199"/>
          </a:xfrm>
        </p:spPr>
        <p:txBody>
          <a:bodyPr>
            <a:noAutofit/>
          </a:bodyPr>
          <a:lstStyle/>
          <a:p>
            <a:r>
              <a:rPr lang="en-US" sz="2400" dirty="0" smtClean="0"/>
              <a:t>The cluster heads are selected randomly among all nodes</a:t>
            </a:r>
          </a:p>
          <a:p>
            <a:r>
              <a:rPr lang="en-US" sz="2400" dirty="0" smtClean="0"/>
              <a:t>Cluster head roles are updated from time to time to balance their energy consumption</a:t>
            </a:r>
          </a:p>
          <a:p>
            <a:r>
              <a:rPr lang="en-US" sz="2400" dirty="0" smtClean="0"/>
              <a:t>Example: LEACH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2924944"/>
            <a:ext cx="5062994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464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Nearest Sink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Developed to balance better the sizes of the clusters</a:t>
            </a:r>
          </a:p>
          <a:p>
            <a:r>
              <a:rPr lang="en-US" dirty="0" smtClean="0"/>
              <a:t>More than one sink deployed in a network (e.g. with more resources than other nodes)</a:t>
            </a:r>
          </a:p>
          <a:p>
            <a:r>
              <a:rPr lang="en-US" dirty="0" smtClean="0"/>
              <a:t>Every sink announces itself via full-network broadcast</a:t>
            </a:r>
          </a:p>
          <a:p>
            <a:r>
              <a:rPr lang="en-US" dirty="0" smtClean="0"/>
              <a:t>Every node selects the “nearest” sink </a:t>
            </a:r>
            <a:r>
              <a:rPr lang="mr-IN" dirty="0" smtClean="0"/>
              <a:t>–</a:t>
            </a:r>
            <a:r>
              <a:rPr lang="en-US" dirty="0" smtClean="0"/>
              <a:t> in terms of hops, ETX, delay, etc.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727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Geographic 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208823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Divides the network into geographic areas</a:t>
            </a:r>
          </a:p>
          <a:p>
            <a:r>
              <a:rPr lang="en-US" sz="2400" dirty="0" smtClean="0"/>
              <a:t>One sink per area</a:t>
            </a:r>
          </a:p>
          <a:p>
            <a:r>
              <a:rPr lang="en-US" sz="2400" dirty="0" smtClean="0"/>
              <a:t>All nodes belong to that single sink</a:t>
            </a:r>
          </a:p>
          <a:p>
            <a:r>
              <a:rPr lang="en-US" sz="2400" dirty="0" smtClean="0"/>
              <a:t>Balances very well the size of clusters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228" y="2665287"/>
            <a:ext cx="4962004" cy="342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170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00" dirty="0" smtClean="0"/>
              <a:t>In-Network Processing and Data Aggregation</a:t>
            </a:r>
            <a:endParaRPr lang="en-US" sz="31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/>
          </a:bodyPr>
          <a:lstStyle/>
          <a:p>
            <a:r>
              <a:rPr lang="en-US" sz="2800" dirty="0" smtClean="0"/>
              <a:t>Used usually together with clustering</a:t>
            </a:r>
          </a:p>
          <a:p>
            <a:r>
              <a:rPr lang="en-US" sz="2800" dirty="0" smtClean="0"/>
              <a:t>Saves additional energy by not transmitting all data to the sink</a:t>
            </a:r>
          </a:p>
          <a:p>
            <a:r>
              <a:rPr lang="en-US" sz="2800" dirty="0" smtClean="0"/>
              <a:t>Variants:</a:t>
            </a:r>
          </a:p>
          <a:p>
            <a:pPr lvl="1"/>
            <a:r>
              <a:rPr lang="en-US" sz="2400" dirty="0" smtClean="0"/>
              <a:t>Compression of data</a:t>
            </a:r>
          </a:p>
          <a:p>
            <a:pPr lvl="1"/>
            <a:r>
              <a:rPr lang="en-US" sz="2400" dirty="0" smtClean="0"/>
              <a:t>Statistical Techniques</a:t>
            </a:r>
          </a:p>
          <a:p>
            <a:pPr lvl="1"/>
            <a:r>
              <a:rPr lang="en-US" sz="2400" dirty="0" smtClean="0"/>
              <a:t>Compressive Sampling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7483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9"/>
            <a:ext cx="8229600" cy="1728192"/>
          </a:xfrm>
        </p:spPr>
        <p:txBody>
          <a:bodyPr>
            <a:noAutofit/>
          </a:bodyPr>
          <a:lstStyle/>
          <a:p>
            <a:r>
              <a:rPr lang="en-US" sz="2400" dirty="0" smtClean="0"/>
              <a:t>Several packets get combined into a single one (recall that individual packets are costly, while larger packets are almost as costly as small ones)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636912"/>
            <a:ext cx="7536938" cy="287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501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Huffman Codes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08721"/>
            <a:ext cx="8507288" cy="2592287"/>
          </a:xfrm>
        </p:spPr>
        <p:txBody>
          <a:bodyPr>
            <a:normAutofit/>
          </a:bodyPr>
          <a:lstStyle/>
          <a:p>
            <a:r>
              <a:rPr lang="en-US" sz="2000" dirty="0" smtClean="0"/>
              <a:t>Compresses the contents of the data packets</a:t>
            </a:r>
          </a:p>
          <a:p>
            <a:r>
              <a:rPr lang="en-US" sz="2000" dirty="0" smtClean="0"/>
              <a:t>Based on observation: some letters/symbols are used more often than others</a:t>
            </a:r>
          </a:p>
          <a:p>
            <a:r>
              <a:rPr lang="en-US" sz="2000" dirty="0" smtClean="0"/>
              <a:t>Consequence: use shorter codes for often used symbols</a:t>
            </a:r>
          </a:p>
          <a:p>
            <a:r>
              <a:rPr lang="en-US" sz="2000" dirty="0" smtClean="0"/>
              <a:t>Compare: ASCII code uses the same code length for all characters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662835"/>
            <a:ext cx="6568460" cy="341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486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Prediction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Develop a mathematical model of the data</a:t>
            </a:r>
          </a:p>
          <a:p>
            <a:r>
              <a:rPr lang="en-US" sz="2400" dirty="0" smtClean="0"/>
              <a:t>Example: Temperature in the room should be between 21° and 23°.</a:t>
            </a:r>
          </a:p>
          <a:p>
            <a:r>
              <a:rPr lang="en-US" sz="2400" dirty="0" smtClean="0"/>
              <a:t>If the data matches the model, do not transmit the data</a:t>
            </a:r>
          </a:p>
          <a:p>
            <a:r>
              <a:rPr lang="en-US" sz="2400" dirty="0" smtClean="0"/>
              <a:t>Very complex models can be developed (e.g. for soil temperature in a day-night rhythm)</a:t>
            </a:r>
          </a:p>
          <a:p>
            <a:endParaRPr lang="en-US" sz="2400" dirty="0" smtClean="0"/>
          </a:p>
          <a:p>
            <a:r>
              <a:rPr lang="en-US" sz="2400" dirty="0" smtClean="0"/>
              <a:t>Problem: if no data arrives, how to know that the node is still alive?</a:t>
            </a:r>
          </a:p>
          <a:p>
            <a:r>
              <a:rPr lang="en-US" sz="2400" dirty="0" smtClean="0"/>
              <a:t>Solution: Heart-beat protocol. Sends a small packet every extended period of time (e.g. once per day)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13768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Statistical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9"/>
            <a:ext cx="8229600" cy="936104"/>
          </a:xfrm>
        </p:spPr>
        <p:txBody>
          <a:bodyPr>
            <a:noAutofit/>
          </a:bodyPr>
          <a:lstStyle/>
          <a:p>
            <a:r>
              <a:rPr lang="en-US" sz="2400" dirty="0" smtClean="0"/>
              <a:t>On the way to the sink, statistically evaluate the data.</a:t>
            </a:r>
          </a:p>
          <a:p>
            <a:r>
              <a:rPr lang="en-US" sz="2400" dirty="0" smtClean="0"/>
              <a:t>Once statistically evaluated, the original data cannot be recovered</a:t>
            </a:r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2276872"/>
            <a:ext cx="4130940" cy="326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723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Compressive Sensing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9"/>
            <a:ext cx="8229600" cy="288032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Minimizes the number of required sensor data to fully depict the underlying process/signal.</a:t>
            </a:r>
          </a:p>
          <a:p>
            <a:r>
              <a:rPr lang="en-US" sz="2000" dirty="0" smtClean="0"/>
              <a:t>Mathematically quite complex (refer to literature for more details)</a:t>
            </a:r>
          </a:p>
          <a:p>
            <a:r>
              <a:rPr lang="en-US" sz="2000" dirty="0" smtClean="0"/>
              <a:t>Can save a lot of energy, if underlying process follows the mathematical model (not all natural processes do!)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996952"/>
            <a:ext cx="5904656" cy="302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899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Clustering and Data Aggregation: </a:t>
            </a:r>
            <a:r>
              <a:rPr lang="en-US" sz="3200" dirty="0" smtClean="0"/>
              <a:t>Summary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836712"/>
            <a:ext cx="8640960" cy="5145435"/>
          </a:xfrm>
        </p:spPr>
        <p:txBody>
          <a:bodyPr>
            <a:noAutofit/>
          </a:bodyPr>
          <a:lstStyle/>
          <a:p>
            <a:r>
              <a:rPr lang="en-US" sz="2000" b="1" dirty="0"/>
              <a:t>Clustering </a:t>
            </a:r>
            <a:r>
              <a:rPr lang="en-US" sz="2000" dirty="0"/>
              <a:t>organizes the network into sub-networks called clusters. </a:t>
            </a:r>
            <a:r>
              <a:rPr lang="en-US" sz="2000" dirty="0" smtClean="0"/>
              <a:t>Clusters </a:t>
            </a:r>
            <a:r>
              <a:rPr lang="en-US" sz="2000" dirty="0"/>
              <a:t>can be </a:t>
            </a:r>
            <a:r>
              <a:rPr lang="en-US" sz="2000" dirty="0" smtClean="0"/>
              <a:t>identified </a:t>
            </a:r>
            <a:r>
              <a:rPr lang="en-US" sz="2000" dirty="0"/>
              <a:t>randomly or geographically. Each cluster gathers all of its data on a single node, called the cluster head, and then sends the data in a compressed or processed way to the sink. </a:t>
            </a:r>
            <a:endParaRPr lang="en-US" sz="2000" dirty="0"/>
          </a:p>
          <a:p>
            <a:r>
              <a:rPr lang="en-US" sz="2000" b="1" dirty="0" smtClean="0"/>
              <a:t>Compression </a:t>
            </a:r>
            <a:r>
              <a:rPr lang="en-US" sz="2000" dirty="0"/>
              <a:t>refers to minimizing the required communication overhead and storage for individually sampled data. For example, several data items can be </a:t>
            </a:r>
            <a:r>
              <a:rPr lang="en-US" sz="2000" dirty="0" smtClean="0"/>
              <a:t>unified </a:t>
            </a:r>
            <a:r>
              <a:rPr lang="en-US" sz="2000" dirty="0"/>
              <a:t>in a single data packet or data compression techniques can be applied to further reduce their volume. </a:t>
            </a:r>
            <a:endParaRPr lang="en-US" sz="2000" dirty="0"/>
          </a:p>
          <a:p>
            <a:r>
              <a:rPr lang="en-US" sz="2000" b="1" dirty="0" smtClean="0"/>
              <a:t>In</a:t>
            </a:r>
            <a:r>
              <a:rPr lang="en-US" sz="2000" b="1" dirty="0"/>
              <a:t>-network processing </a:t>
            </a:r>
            <a:r>
              <a:rPr lang="en-US" sz="2000" dirty="0"/>
              <a:t>refers to calculating some statistical values or to allow voting between the nodes of a cluster. For example, only the mean values can be transferred to the sink. </a:t>
            </a:r>
            <a:endParaRPr lang="en-US" sz="2000" dirty="0"/>
          </a:p>
          <a:p>
            <a:r>
              <a:rPr lang="en-US" sz="2000" b="1" dirty="0" smtClean="0"/>
              <a:t>Compressive </a:t>
            </a:r>
            <a:r>
              <a:rPr lang="en-US" sz="2000" b="1" dirty="0"/>
              <a:t>sensing </a:t>
            </a:r>
            <a:r>
              <a:rPr lang="en-US" sz="2000" dirty="0"/>
              <a:t>refers to a concept from signal processing, which randomly samples a signal instead of continuously. This reduces the </a:t>
            </a:r>
            <a:r>
              <a:rPr lang="en-US" sz="2000" dirty="0" smtClean="0"/>
              <a:t>sampled </a:t>
            </a:r>
            <a:r>
              <a:rPr lang="en-US" sz="2000" dirty="0"/>
              <a:t>data at the source directly and no further compression is needed. 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029417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Clustering and Data Aggregation: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/>
          </a:bodyPr>
          <a:lstStyle/>
          <a:p>
            <a:r>
              <a:rPr lang="en-US" sz="2000" dirty="0"/>
              <a:t>Clustering is a communication organization measure and needs to be used together with other techniques to achieve communication savings. </a:t>
            </a:r>
            <a:endParaRPr lang="en-US" sz="2000" dirty="0"/>
          </a:p>
          <a:p>
            <a:r>
              <a:rPr lang="en-US" sz="2000" dirty="0" smtClean="0"/>
              <a:t>Compression </a:t>
            </a:r>
            <a:r>
              <a:rPr lang="en-US" sz="2000" dirty="0"/>
              <a:t>and compressive sensing preserve the full properties of the originally sensed signal, and sometimes it can even be completely </a:t>
            </a:r>
            <a:r>
              <a:rPr lang="en-US" sz="2000" dirty="0" smtClean="0"/>
              <a:t>reconstructed</a:t>
            </a:r>
            <a:r>
              <a:rPr lang="en-US" sz="2000" dirty="0"/>
              <a:t>. These two concepts are our preferred options. </a:t>
            </a:r>
            <a:endParaRPr lang="en-US" sz="2000" dirty="0"/>
          </a:p>
          <a:p>
            <a:r>
              <a:rPr lang="en-US" sz="2000" dirty="0" smtClean="0"/>
              <a:t>Statistical </a:t>
            </a:r>
            <a:r>
              <a:rPr lang="en-US" sz="2000" dirty="0"/>
              <a:t>in-network processing does not allow for reconstruction of the original signal, nor of all of its properties, and has to be used very carefully. 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85924951"/>
      </p:ext>
    </p:extLst>
  </p:cSld>
  <p:clrMapOvr>
    <a:masterClrMapping/>
  </p:clrMapOvr>
</p:sld>
</file>

<file path=ppt/theme/theme1.xml><?xml version="1.0" encoding="utf-8"?>
<a:theme xmlns:a="http://schemas.openxmlformats.org/drawingml/2006/main" name="comnets_ppt_theme_gru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comnets_ppt_theme_gruen.potx</Template>
  <TotalTime>9628</TotalTime>
  <Words>678</Words>
  <Application>Microsoft Macintosh PowerPoint</Application>
  <PresentationFormat>On-screen Show (4:3)</PresentationFormat>
  <Paragraphs>66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comnets_ppt_theme_gruen</vt:lpstr>
      <vt:lpstr>INTRODUCTION TO  WIRELESS SENSOR NETWORKS</vt:lpstr>
      <vt:lpstr>OVERVIEW</vt:lpstr>
      <vt:lpstr>Clustering Techniques</vt:lpstr>
      <vt:lpstr>Random Clustering</vt:lpstr>
      <vt:lpstr>Nearest Sink</vt:lpstr>
      <vt:lpstr>Geographic Clustering</vt:lpstr>
      <vt:lpstr>In-Network Processing and Data Aggregation</vt:lpstr>
      <vt:lpstr>Compression</vt:lpstr>
      <vt:lpstr>Huffman Codes</vt:lpstr>
      <vt:lpstr>Model Prediction</vt:lpstr>
      <vt:lpstr>Statistical Techniques</vt:lpstr>
      <vt:lpstr>Compressive Sensing</vt:lpstr>
      <vt:lpstr>Clustering and Data Aggregation: Summary</vt:lpstr>
      <vt:lpstr>Clustering and Data Aggregation: 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Sarah</dc:creator>
  <cp:lastModifiedBy>Anna Förster</cp:lastModifiedBy>
  <cp:revision>288</cp:revision>
  <dcterms:created xsi:type="dcterms:W3CDTF">2015-07-16T14:19:04Z</dcterms:created>
  <dcterms:modified xsi:type="dcterms:W3CDTF">2018-04-01T10:01:35Z</dcterms:modified>
</cp:coreProperties>
</file>