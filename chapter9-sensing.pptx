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4" r:id="rId3"/>
    <p:sldId id="294" r:id="rId4"/>
    <p:sldId id="295" r:id="rId5"/>
    <p:sldId id="296" r:id="rId6"/>
    <p:sldId id="297" r:id="rId7"/>
    <p:sldId id="298" r:id="rId8"/>
    <p:sldId id="299" r:id="rId9"/>
    <p:sldId id="293" r:id="rId10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77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72" autoAdjust="0"/>
    <p:restoredTop sz="99051" autoAdjust="0"/>
  </p:normalViewPr>
  <p:slideViewPr>
    <p:cSldViewPr>
      <p:cViewPr varScale="1">
        <p:scale>
          <a:sx n="125" d="100"/>
          <a:sy n="125" d="100"/>
        </p:scale>
        <p:origin x="-104" y="-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27BCF-15D2-D548-9FD8-58FD9160F476}" type="datetimeFigureOut">
              <a:rPr lang="en-US" smtClean="0"/>
              <a:t>01.04.18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22A97-2FC2-9B4E-B45A-926C23B3A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989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94272-E92C-C846-A641-780E56020FA0}" type="datetimeFigureOut">
              <a:rPr lang="en-US" smtClean="0"/>
              <a:t>01.04.18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EDB47-CFE0-724D-8A5B-56F53A960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465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Click to edit Master subtitle style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Rectangle 5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Clr>
                <a:srgbClr val="3C7704"/>
              </a:buClr>
              <a:buFont typeface="+mj-lt"/>
              <a:buAutoNum type="arabicPeriod"/>
              <a:defRPr/>
            </a:lvl1pPr>
            <a:lvl2pPr marL="971550" indent="-514350">
              <a:buClr>
                <a:srgbClr val="3C7704"/>
              </a:buClr>
              <a:buFont typeface="+mj-lt"/>
              <a:buAutoNum type="arabicPeriod"/>
              <a:defRPr/>
            </a:lvl2pPr>
            <a:lvl3pPr marL="1371600" indent="-457200">
              <a:buClr>
                <a:srgbClr val="3C7704"/>
              </a:buClr>
              <a:buFont typeface="+mj-lt"/>
              <a:buAutoNum type="arabicPeriod"/>
              <a:defRPr/>
            </a:lvl3pPr>
            <a:lvl4pPr marL="1828800" indent="-457200">
              <a:buClr>
                <a:srgbClr val="3C7704"/>
              </a:buClr>
              <a:buFont typeface="+mj-lt"/>
              <a:buAutoNum type="arabicPeriod"/>
              <a:defRPr/>
            </a:lvl4pPr>
            <a:lvl5pPr marL="2286000" indent="-457200">
              <a:buClr>
                <a:srgbClr val="3C7704"/>
              </a:buClr>
              <a:buFont typeface="+mj-lt"/>
              <a:buAutoNum type="arabicPeriod"/>
              <a:defRPr/>
            </a:lvl5pPr>
          </a:lstStyle>
          <a:p>
            <a:pPr lvl="0"/>
            <a:r>
              <a:rPr lang="de-DE" dirty="0" smtClean="0"/>
              <a:t>Click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edit</a:t>
            </a:r>
            <a:r>
              <a:rPr lang="de-DE" dirty="0" smtClean="0"/>
              <a:t> Master </a:t>
            </a:r>
            <a:r>
              <a:rPr lang="de-DE" dirty="0" err="1" smtClean="0"/>
              <a:t>text</a:t>
            </a:r>
            <a:r>
              <a:rPr lang="de-DE" dirty="0" smtClean="0"/>
              <a:t> </a:t>
            </a:r>
            <a:r>
              <a:rPr lang="de-DE" dirty="0" err="1" smtClean="0"/>
              <a:t>styles</a:t>
            </a:r>
            <a:endParaRPr lang="de-DE" dirty="0" smtClean="0"/>
          </a:p>
          <a:p>
            <a:pPr lvl="1"/>
            <a:r>
              <a:rPr lang="de-DE" dirty="0" smtClean="0"/>
              <a:t>Second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2"/>
            <a:r>
              <a:rPr lang="de-DE" dirty="0" smtClean="0"/>
              <a:t>Third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3"/>
            <a:r>
              <a:rPr lang="de-DE" dirty="0" err="1" smtClean="0"/>
              <a:t>Fourth</a:t>
            </a:r>
            <a:r>
              <a:rPr lang="de-DE" dirty="0" smtClean="0"/>
              <a:t>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4"/>
            <a:r>
              <a:rPr lang="de-DE" dirty="0" err="1" smtClean="0"/>
              <a:t>Fifth</a:t>
            </a:r>
            <a:r>
              <a:rPr lang="de-DE" dirty="0" smtClean="0"/>
              <a:t> </a:t>
            </a:r>
            <a:r>
              <a:rPr lang="de-DE" dirty="0" err="1" smtClean="0"/>
              <a:t>level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Rectangle 5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6809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 smtClean="0"/>
          </a:p>
        </p:txBody>
      </p:sp>
      <p:sp>
        <p:nvSpPr>
          <p:cNvPr id="7" name="Rectangle 6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/>
          </a:p>
        </p:txBody>
      </p:sp>
      <p:sp>
        <p:nvSpPr>
          <p:cNvPr id="5" name="Rectangle 4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/>
          </a:p>
        </p:txBody>
      </p:sp>
      <p:sp>
        <p:nvSpPr>
          <p:cNvPr id="4" name="Rectangle 3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.emf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 smtClean="0"/>
              <a:t>Click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edit</a:t>
            </a:r>
            <a:r>
              <a:rPr lang="de-DE" dirty="0" smtClean="0"/>
              <a:t>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80728"/>
            <a:ext cx="8229600" cy="5145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-108520" y="6165304"/>
            <a:ext cx="2880320" cy="6926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3008" y="6237312"/>
            <a:ext cx="990600" cy="482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259632" y="6309320"/>
            <a:ext cx="1181100" cy="355600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148064" y="638132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DD6B2-4EAD-7646-BE25-47CB62D96D2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2" r:id="rId5"/>
    <p:sldLayoutId id="2147483654" r:id="rId6"/>
    <p:sldLayoutId id="2147483655" r:id="rId7"/>
  </p:sldLayoutIdLs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2"/>
        </a:buBlip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Tx/>
        <a:buBlip>
          <a:blip r:embed="rId12"/>
        </a:buBlip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8720" y="620688"/>
            <a:ext cx="6119664" cy="1470025"/>
          </a:xfrm>
        </p:spPr>
        <p:txBody>
          <a:bodyPr/>
          <a:lstStyle/>
          <a:p>
            <a:r>
              <a:rPr lang="de-DE" sz="2400" dirty="0" smtClean="0">
                <a:latin typeface="Arial"/>
                <a:cs typeface="Arial"/>
              </a:rPr>
              <a:t>INTRODUCTION TO </a:t>
            </a:r>
            <a:br>
              <a:rPr lang="de-DE" sz="2400" dirty="0" smtClean="0">
                <a:latin typeface="Arial"/>
                <a:cs typeface="Arial"/>
              </a:rPr>
            </a:br>
            <a:r>
              <a:rPr lang="de-DE" sz="2400" dirty="0" smtClean="0">
                <a:latin typeface="Arial"/>
                <a:cs typeface="Arial"/>
              </a:rPr>
              <a:t>WIRELESS SENSOR NETWORKS</a:t>
            </a:r>
            <a:endParaRPr lang="de-DE" sz="2400" dirty="0">
              <a:latin typeface="Arial"/>
              <a:cs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3620616"/>
            <a:ext cx="7416824" cy="1752600"/>
          </a:xfrm>
        </p:spPr>
        <p:txBody>
          <a:bodyPr/>
          <a:lstStyle/>
          <a:p>
            <a:r>
              <a:rPr lang="de-DE" dirty="0" smtClean="0"/>
              <a:t>CHAPTER </a:t>
            </a:r>
            <a:r>
              <a:rPr lang="de-DE" dirty="0" smtClean="0"/>
              <a:t>9: 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/>
              <a:t>SENSING TECHNIQUES</a:t>
            </a:r>
            <a:endParaRPr lang="de-DE" dirty="0"/>
          </a:p>
        </p:txBody>
      </p:sp>
      <p:sp>
        <p:nvSpPr>
          <p:cNvPr id="4" name="TextBox 3"/>
          <p:cNvSpPr txBox="1"/>
          <p:nvPr/>
        </p:nvSpPr>
        <p:spPr>
          <a:xfrm>
            <a:off x="3419872" y="4653136"/>
            <a:ext cx="233589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Anna Förster</a:t>
            </a:r>
            <a:endParaRPr lang="en-US" sz="3200" dirty="0"/>
          </a:p>
        </p:txBody>
      </p:sp>
      <p:pic>
        <p:nvPicPr>
          <p:cNvPr id="5" name="Picture 4" descr="111899351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52736"/>
            <a:ext cx="1534115" cy="231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5" name="Content Placeholder 6"/>
          <p:cNvSpPr txBox="1">
            <a:spLocks/>
          </p:cNvSpPr>
          <p:nvPr/>
        </p:nvSpPr>
        <p:spPr>
          <a:xfrm>
            <a:off x="323528" y="980728"/>
            <a:ext cx="8229600" cy="52894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Types of Sensors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Sensing Coverage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High-Level Sensors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The Human as a Sensor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A</a:t>
            </a:r>
            <a:r>
              <a:rPr lang="en-US" sz="2400" dirty="0" smtClean="0"/>
              <a:t>ctuators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Sensor Calibration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Detecting Errors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endParaRPr lang="en-US" sz="2400" dirty="0" smtClean="0"/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0279479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Sensors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9"/>
            <a:ext cx="8229600" cy="136815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Passive against active sensors</a:t>
            </a:r>
          </a:p>
          <a:p>
            <a:r>
              <a:rPr lang="en-US" sz="2800" dirty="0" smtClean="0"/>
              <a:t>Omnidirectional against narrow-beam sensors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132856"/>
            <a:ext cx="5446092" cy="351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40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Sensing Coverage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Sensing coverage: maximum distance at which the sensor can still sense correctly the phenomenon</a:t>
            </a:r>
          </a:p>
          <a:p>
            <a:r>
              <a:rPr lang="en-US" dirty="0" smtClean="0"/>
              <a:t>Sensing model: what happens if the distance is exceeded?</a:t>
            </a:r>
          </a:p>
          <a:p>
            <a:pPr lvl="1"/>
            <a:r>
              <a:rPr lang="en-US" b="1" dirty="0" smtClean="0"/>
              <a:t>Binary sensing model</a:t>
            </a:r>
            <a:r>
              <a:rPr lang="en-US" dirty="0" smtClean="0"/>
              <a:t>: the sensor works perfectly inside its sensing distance and not at all outside.</a:t>
            </a:r>
          </a:p>
          <a:p>
            <a:pPr lvl="1"/>
            <a:r>
              <a:rPr lang="en-US" b="1" dirty="0" smtClean="0"/>
              <a:t>Power law sensing model</a:t>
            </a:r>
            <a:r>
              <a:rPr lang="en-US" dirty="0" smtClean="0"/>
              <a:t>: the the sensor’s reliability </a:t>
            </a:r>
            <a:r>
              <a:rPr lang="en-US" dirty="0"/>
              <a:t>decreases with increasing distance from the phenomenon.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059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High-Level Sensors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4896544"/>
          </a:xfrm>
        </p:spPr>
        <p:txBody>
          <a:bodyPr>
            <a:normAutofit/>
          </a:bodyPr>
          <a:lstStyle/>
          <a:p>
            <a:r>
              <a:rPr lang="en-US" sz="2600" dirty="0" smtClean="0"/>
              <a:t>Also called software sensors</a:t>
            </a:r>
          </a:p>
          <a:p>
            <a:r>
              <a:rPr lang="en-US" sz="2600" dirty="0" smtClean="0"/>
              <a:t>Combination of several sensors via sensor fusion</a:t>
            </a:r>
          </a:p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/>
          </a:p>
          <a:p>
            <a:endParaRPr lang="en-US" sz="2600" dirty="0" smtClean="0"/>
          </a:p>
          <a:p>
            <a:endParaRPr lang="en-US" sz="2600" dirty="0"/>
          </a:p>
          <a:p>
            <a:endParaRPr lang="en-US" sz="2600" dirty="0" smtClean="0"/>
          </a:p>
          <a:p>
            <a:r>
              <a:rPr lang="en-US" sz="2600" dirty="0" smtClean="0"/>
              <a:t>Special Case: Human as a sensor. </a:t>
            </a:r>
            <a:br>
              <a:rPr lang="en-US" sz="2600" dirty="0" smtClean="0"/>
            </a:br>
            <a:r>
              <a:rPr lang="en-US" sz="2600" dirty="0" smtClean="0"/>
              <a:t>Example: Restaurant ratings, danger situations, etc.</a:t>
            </a:r>
            <a:endParaRPr 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348880"/>
            <a:ext cx="7273657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8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Actuators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1152127"/>
          </a:xfrm>
        </p:spPr>
        <p:txBody>
          <a:bodyPr>
            <a:noAutofit/>
          </a:bodyPr>
          <a:lstStyle/>
          <a:p>
            <a:r>
              <a:rPr lang="en-US" sz="2800" dirty="0" smtClean="0"/>
              <a:t>Closes the loop: sense </a:t>
            </a:r>
            <a:r>
              <a:rPr lang="mr-IN" sz="2800" dirty="0" smtClean="0"/>
              <a:t>–</a:t>
            </a:r>
            <a:r>
              <a:rPr lang="en-US" sz="2800" dirty="0" smtClean="0"/>
              <a:t> process </a:t>
            </a:r>
            <a:r>
              <a:rPr lang="mr-IN" sz="2800" dirty="0" smtClean="0"/>
              <a:t>–</a:t>
            </a:r>
            <a:r>
              <a:rPr lang="en-US" sz="2800" dirty="0" smtClean="0"/>
              <a:t> act</a:t>
            </a:r>
          </a:p>
          <a:p>
            <a:r>
              <a:rPr lang="en-US" sz="2800" dirty="0" smtClean="0"/>
              <a:t>Motors, alarms, irrigation pumps, etc.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636912"/>
            <a:ext cx="7801552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01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Sensor Calibration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9"/>
            <a:ext cx="8229600" cy="2736304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Critical step before or while using a sensor</a:t>
            </a:r>
          </a:p>
          <a:p>
            <a:r>
              <a:rPr lang="en-US" sz="2400" dirty="0" smtClean="0"/>
              <a:t>Makes sure that the delivered data is correct</a:t>
            </a:r>
          </a:p>
          <a:p>
            <a:r>
              <a:rPr lang="en-US" sz="2400" dirty="0" smtClean="0"/>
              <a:t>Compares the sensor on hand with another, already calibrated one (or physical one, which does not need calibration)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3212976"/>
            <a:ext cx="5379749" cy="271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650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Detecting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Offline Error Detection: similar to calibration, test the sensor with various inputs</a:t>
            </a:r>
          </a:p>
          <a:p>
            <a:r>
              <a:rPr lang="en-US" dirty="0" smtClean="0"/>
              <a:t>Online Error Detection: try to detect errors during normal work. </a:t>
            </a:r>
            <a:endParaRPr lang="en-US" dirty="0"/>
          </a:p>
          <a:p>
            <a:pPr lvl="1"/>
            <a:r>
              <a:rPr lang="en-US" dirty="0" smtClean="0"/>
              <a:t>Main problem: if the sensor data changes, is it the phenomenon that changed or is the sensor faulty?</a:t>
            </a:r>
          </a:p>
          <a:p>
            <a:pPr lvl="1"/>
            <a:r>
              <a:rPr lang="en-US" dirty="0" smtClean="0"/>
              <a:t>Solution 1: use several sensors and compare their readings</a:t>
            </a:r>
          </a:p>
          <a:p>
            <a:pPr lvl="1"/>
            <a:r>
              <a:rPr lang="en-US" dirty="0" smtClean="0"/>
              <a:t>Solution 2: observe the battery voltage (recall Chapter 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502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Sensing: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640960" cy="5145435"/>
          </a:xfrm>
        </p:spPr>
        <p:txBody>
          <a:bodyPr>
            <a:noAutofit/>
          </a:bodyPr>
          <a:lstStyle/>
          <a:p>
            <a:r>
              <a:rPr lang="en-US" sz="1800" dirty="0"/>
              <a:t>Sensors build the most important part of sensor networks. </a:t>
            </a:r>
            <a:endParaRPr lang="en-US" sz="1800" dirty="0" smtClean="0"/>
          </a:p>
          <a:p>
            <a:r>
              <a:rPr lang="en-US" sz="1800" dirty="0" smtClean="0"/>
              <a:t>Different </a:t>
            </a:r>
            <a:r>
              <a:rPr lang="en-US" sz="1800" dirty="0"/>
              <a:t>types of sensors exist such as </a:t>
            </a:r>
            <a:r>
              <a:rPr lang="en-US" sz="1800" b="1" dirty="0"/>
              <a:t>active </a:t>
            </a:r>
            <a:r>
              <a:rPr lang="en-US" sz="1800" dirty="0"/>
              <a:t>and </a:t>
            </a:r>
            <a:r>
              <a:rPr lang="en-US" sz="1800" b="1" dirty="0"/>
              <a:t>passive </a:t>
            </a:r>
            <a:r>
              <a:rPr lang="en-US" sz="1800" dirty="0"/>
              <a:t>sensors, </a:t>
            </a:r>
            <a:r>
              <a:rPr lang="en-US" sz="1800" b="1" dirty="0"/>
              <a:t>omnidirectional </a:t>
            </a:r>
            <a:r>
              <a:rPr lang="en-US" sz="1800" dirty="0"/>
              <a:t>and </a:t>
            </a:r>
            <a:r>
              <a:rPr lang="en-US" sz="1800" b="1" dirty="0"/>
              <a:t>narrow </a:t>
            </a:r>
            <a:r>
              <a:rPr lang="en-US" sz="1800" dirty="0"/>
              <a:t>band sensors. All sensors can be characterized by their: </a:t>
            </a:r>
            <a:endParaRPr lang="en-US" sz="1800" dirty="0"/>
          </a:p>
          <a:p>
            <a:r>
              <a:rPr lang="en-US" sz="1800" b="1" dirty="0" smtClean="0"/>
              <a:t>Sensing coverage</a:t>
            </a:r>
            <a:r>
              <a:rPr lang="en-US" sz="1800" dirty="0" smtClean="0"/>
              <a:t>, which defines the maximum distance and area at which </a:t>
            </a:r>
            <a:r>
              <a:rPr lang="en-US" sz="1800" dirty="0"/>
              <a:t>the sensor works reliably. </a:t>
            </a:r>
            <a:endParaRPr lang="en-US" sz="1800" dirty="0"/>
          </a:p>
          <a:p>
            <a:r>
              <a:rPr lang="en-US" sz="1800" b="1" dirty="0" smtClean="0"/>
              <a:t>Sensing model</a:t>
            </a:r>
            <a:r>
              <a:rPr lang="en-US" sz="1800" dirty="0" smtClean="0"/>
              <a:t>, which defines how reliability changes with increasing distance </a:t>
            </a:r>
            <a:r>
              <a:rPr lang="en-US" sz="1800" dirty="0"/>
              <a:t>from the sensor. </a:t>
            </a:r>
            <a:endParaRPr lang="en-US" sz="1800" dirty="0"/>
          </a:p>
          <a:p>
            <a:r>
              <a:rPr lang="en-US" sz="1800" dirty="0"/>
              <a:t>In practice, binary sensors are preferred, which work reliably in a </a:t>
            </a:r>
            <a:r>
              <a:rPr lang="en-US" sz="1800" dirty="0" smtClean="0"/>
              <a:t>predefined </a:t>
            </a:r>
            <a:r>
              <a:rPr lang="en-US" sz="1800" dirty="0"/>
              <a:t>coverage area and do not work reliably outside of it. </a:t>
            </a:r>
            <a:endParaRPr lang="en-US" sz="1800" dirty="0"/>
          </a:p>
          <a:p>
            <a:r>
              <a:rPr lang="en-US" sz="1800" dirty="0"/>
              <a:t>The process of matching the output of a sensor to some physical entity (such as temperature in degree Celsius) is called </a:t>
            </a:r>
            <a:r>
              <a:rPr lang="en-US" sz="1800" b="1" dirty="0"/>
              <a:t>calibration</a:t>
            </a:r>
            <a:r>
              <a:rPr lang="en-US" sz="1800" dirty="0"/>
              <a:t>. Sensors need to be calibrated periodically to ensure that they still deliver correct results. </a:t>
            </a:r>
            <a:endParaRPr lang="en-US" sz="1800" dirty="0"/>
          </a:p>
          <a:p>
            <a:r>
              <a:rPr lang="en-US" sz="1800" b="1" dirty="0"/>
              <a:t>Sensor errors </a:t>
            </a:r>
            <a:r>
              <a:rPr lang="en-US" sz="1800" dirty="0"/>
              <a:t>can be detected </a:t>
            </a:r>
            <a:r>
              <a:rPr lang="en-US" sz="1800" dirty="0" smtClean="0"/>
              <a:t>offline </a:t>
            </a:r>
            <a:r>
              <a:rPr lang="en-US" sz="1800" dirty="0"/>
              <a:t>(before deployment) in the process of </a:t>
            </a:r>
            <a:r>
              <a:rPr lang="en-US" sz="1800" dirty="0" smtClean="0"/>
              <a:t>calibration </a:t>
            </a:r>
            <a:r>
              <a:rPr lang="en-US" sz="1800" dirty="0"/>
              <a:t>or online (during deployment). The second is challenging due to </a:t>
            </a:r>
            <a:r>
              <a:rPr lang="en-US" sz="1800" dirty="0" smtClean="0"/>
              <a:t>changing </a:t>
            </a:r>
            <a:r>
              <a:rPr lang="en-US" sz="1800" dirty="0"/>
              <a:t>sensor readings, which can come from changes in the environment or faulty sensors. </a:t>
            </a:r>
            <a:endParaRPr lang="en-US" sz="1800" dirty="0"/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1652323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comnets_ppt_theme_gru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comnets_ppt_theme_gruen.potx</Template>
  <TotalTime>8643</TotalTime>
  <Words>436</Words>
  <Application>Microsoft Macintosh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comnets_ppt_theme_gruen</vt:lpstr>
      <vt:lpstr>INTRODUCTION TO  WIRELESS SENSOR NETWORKS</vt:lpstr>
      <vt:lpstr>OVERVIEW</vt:lpstr>
      <vt:lpstr>Types of Sensors</vt:lpstr>
      <vt:lpstr>Sensing Coverage</vt:lpstr>
      <vt:lpstr>High-Level Sensors</vt:lpstr>
      <vt:lpstr>Actuators</vt:lpstr>
      <vt:lpstr>Sensor Calibration</vt:lpstr>
      <vt:lpstr>Detecting Errors</vt:lpstr>
      <vt:lpstr>Sensing: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Sarah</dc:creator>
  <cp:lastModifiedBy>Anna Förster</cp:lastModifiedBy>
  <cp:revision>282</cp:revision>
  <dcterms:created xsi:type="dcterms:W3CDTF">2015-07-16T14:19:04Z</dcterms:created>
  <dcterms:modified xsi:type="dcterms:W3CDTF">2018-04-01T10:25:45Z</dcterms:modified>
</cp:coreProperties>
</file>