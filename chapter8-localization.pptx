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72" r:id="rId16"/>
    <p:sldId id="273" r:id="rId17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77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9051" autoAdjust="0"/>
  </p:normalViewPr>
  <p:slideViewPr>
    <p:cSldViewPr>
      <p:cViewPr varScale="1">
        <p:scale>
          <a:sx n="75" d="100"/>
          <a:sy n="75" d="100"/>
        </p:scale>
        <p:origin x="-1576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interSettings" Target="printerSettings/printerSettings1.bin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27BCF-15D2-D548-9FD8-58FD9160F476}" type="datetimeFigureOut">
              <a:rPr lang="en-US" smtClean="0"/>
              <a:t>24.03.18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22A97-2FC2-9B4E-B45A-926C23B3AC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9989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A94272-E92C-C846-A641-780E56020FA0}" type="datetimeFigureOut">
              <a:rPr lang="en-US" smtClean="0"/>
              <a:t>24.03.18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EDB47-CFE0-724D-8A5B-56F53A960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465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Click to edit Master subtitle style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uk-UA" smtClean="0"/>
              <a:t>‹#›</a:t>
            </a:r>
            <a:endParaRPr lang="de-DE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 smtClean="0"/>
              <a:t>CLICK TO EDIT MASTER TITLE STYLE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fld id="{3FA8C6BC-68DF-4D5B-A1B8-9D6BE84E80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Rectangle 5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 smtClean="0"/>
              <a:t>CLICK TO EDIT MASTER TITLE STYLE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Clr>
                <a:srgbClr val="3C7704"/>
              </a:buClr>
              <a:buFont typeface="+mj-lt"/>
              <a:buAutoNum type="arabicPeriod"/>
              <a:defRPr/>
            </a:lvl1pPr>
            <a:lvl2pPr marL="971550" indent="-514350">
              <a:buClr>
                <a:srgbClr val="3C7704"/>
              </a:buClr>
              <a:buFont typeface="+mj-lt"/>
              <a:buAutoNum type="arabicPeriod"/>
              <a:defRPr/>
            </a:lvl2pPr>
            <a:lvl3pPr marL="1371600" indent="-457200">
              <a:buClr>
                <a:srgbClr val="3C7704"/>
              </a:buClr>
              <a:buFont typeface="+mj-lt"/>
              <a:buAutoNum type="arabicPeriod"/>
              <a:defRPr/>
            </a:lvl3pPr>
            <a:lvl4pPr marL="1828800" indent="-457200">
              <a:buClr>
                <a:srgbClr val="3C7704"/>
              </a:buClr>
              <a:buFont typeface="+mj-lt"/>
              <a:buAutoNum type="arabicPeriod"/>
              <a:defRPr/>
            </a:lvl4pPr>
            <a:lvl5pPr marL="2286000" indent="-457200">
              <a:buClr>
                <a:srgbClr val="3C7704"/>
              </a:buClr>
              <a:buFont typeface="+mj-lt"/>
              <a:buAutoNum type="arabicPeriod"/>
              <a:defRPr/>
            </a:lvl5pPr>
          </a:lstStyle>
          <a:p>
            <a:pPr lvl="0"/>
            <a:r>
              <a:rPr lang="de-DE" dirty="0" smtClean="0"/>
              <a:t>Click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edit</a:t>
            </a:r>
            <a:r>
              <a:rPr lang="de-DE" dirty="0" smtClean="0"/>
              <a:t> Master </a:t>
            </a:r>
            <a:r>
              <a:rPr lang="de-DE" dirty="0" err="1" smtClean="0"/>
              <a:t>text</a:t>
            </a:r>
            <a:r>
              <a:rPr lang="de-DE" dirty="0" smtClean="0"/>
              <a:t> </a:t>
            </a:r>
            <a:r>
              <a:rPr lang="de-DE" dirty="0" err="1" smtClean="0"/>
              <a:t>styles</a:t>
            </a:r>
            <a:endParaRPr lang="de-DE" dirty="0" smtClean="0"/>
          </a:p>
          <a:p>
            <a:pPr lvl="1"/>
            <a:r>
              <a:rPr lang="de-DE" dirty="0" smtClean="0"/>
              <a:t>Second </a:t>
            </a:r>
            <a:r>
              <a:rPr lang="de-DE" dirty="0" err="1" smtClean="0"/>
              <a:t>level</a:t>
            </a:r>
            <a:endParaRPr lang="de-DE" dirty="0" smtClean="0"/>
          </a:p>
          <a:p>
            <a:pPr lvl="2"/>
            <a:r>
              <a:rPr lang="de-DE" dirty="0" smtClean="0"/>
              <a:t>Third </a:t>
            </a:r>
            <a:r>
              <a:rPr lang="de-DE" dirty="0" err="1" smtClean="0"/>
              <a:t>level</a:t>
            </a:r>
            <a:endParaRPr lang="de-DE" dirty="0" smtClean="0"/>
          </a:p>
          <a:p>
            <a:pPr lvl="3"/>
            <a:r>
              <a:rPr lang="de-DE" dirty="0" err="1" smtClean="0"/>
              <a:t>Fourth</a:t>
            </a:r>
            <a:r>
              <a:rPr lang="de-DE" dirty="0" smtClean="0"/>
              <a:t> </a:t>
            </a:r>
            <a:r>
              <a:rPr lang="de-DE" dirty="0" err="1" smtClean="0"/>
              <a:t>level</a:t>
            </a:r>
            <a:endParaRPr lang="de-DE" dirty="0" smtClean="0"/>
          </a:p>
          <a:p>
            <a:pPr lvl="4"/>
            <a:r>
              <a:rPr lang="de-DE" dirty="0" err="1" smtClean="0"/>
              <a:t>Fifth</a:t>
            </a:r>
            <a:r>
              <a:rPr lang="de-DE" dirty="0" smtClean="0"/>
              <a:t> </a:t>
            </a:r>
            <a:r>
              <a:rPr lang="de-DE" dirty="0" err="1" smtClean="0"/>
              <a:t>level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fld id="{3FA8C6BC-68DF-4D5B-A1B8-9D6BE84E80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Rectangle 5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06809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fld id="{3FA8C6BC-68DF-4D5B-A1B8-9D6BE84E80B6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Click to edit Master title style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fld id="{3FA8C6BC-68DF-4D5B-A1B8-9D6BE84E80B6}" type="slidenum">
              <a:rPr lang="de-DE" smtClean="0"/>
              <a:pPr/>
              <a:t>‹#›</a:t>
            </a:fld>
            <a:endParaRPr lang="de-DE" dirty="0" smtClean="0"/>
          </a:p>
        </p:txBody>
      </p:sp>
      <p:sp>
        <p:nvSpPr>
          <p:cNvPr id="7" name="Rectangle 6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Click to edit Master title style</a:t>
            </a:r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uk-UA" smtClean="0"/>
              <a:t>‹#›</a:t>
            </a:r>
            <a:endParaRPr lang="de-DE" dirty="0"/>
          </a:p>
        </p:txBody>
      </p:sp>
      <p:sp>
        <p:nvSpPr>
          <p:cNvPr id="5" name="Rectangle 4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31840" y="6304235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uk-UA" smtClean="0"/>
              <a:t>‹#›</a:t>
            </a:r>
            <a:endParaRPr lang="de-DE" dirty="0"/>
          </a:p>
        </p:txBody>
      </p:sp>
      <p:sp>
        <p:nvSpPr>
          <p:cNvPr id="4" name="Rectangle 3"/>
          <p:cNvSpPr/>
          <p:nvPr userDrawn="1"/>
        </p:nvSpPr>
        <p:spPr>
          <a:xfrm rot="16200000">
            <a:off x="6120172" y="3176972"/>
            <a:ext cx="5544616" cy="57606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Anna Förster, Introduction to Wireless Sensor Networks, 2016 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image" Target="../media/image3.emf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png"/><Relationship Id="rId10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9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47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 smtClean="0"/>
              <a:t>Click </a:t>
            </a: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edit</a:t>
            </a:r>
            <a:r>
              <a:rPr lang="de-DE" dirty="0" smtClean="0"/>
              <a:t> Master title style</a:t>
            </a:r>
            <a:endParaRPr lang="de-D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80728"/>
            <a:ext cx="8229600" cy="51454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-108520" y="6165304"/>
            <a:ext cx="2880320" cy="6926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53008" y="6237312"/>
            <a:ext cx="990600" cy="4826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259632" y="6309320"/>
            <a:ext cx="1181100" cy="355600"/>
          </a:xfrm>
          <a:prstGeom prst="rect">
            <a:avLst/>
          </a:prstGeom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4"/>
          </p:nvPr>
        </p:nvSpPr>
        <p:spPr>
          <a:xfrm>
            <a:off x="5148064" y="638132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DD6B2-4EAD-7646-BE25-47CB62D96D2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2" r:id="rId5"/>
    <p:sldLayoutId id="2147483654" r:id="rId6"/>
    <p:sldLayoutId id="2147483655" r:id="rId7"/>
  </p:sldLayoutIdLst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Tx/>
        <a:buBlip>
          <a:blip r:embed="rId12"/>
        </a:buBlip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Tx/>
        <a:buBlip>
          <a:blip r:embed="rId12"/>
        </a:buBlip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Tx/>
        <a:buBlip>
          <a:blip r:embed="rId12"/>
        </a:buBlip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Tx/>
        <a:buBlip>
          <a:blip r:embed="rId12"/>
        </a:buBlip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Tx/>
        <a:buBlip>
          <a:blip r:embed="rId12"/>
        </a:buBlip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Relationship Id="rId3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8720" y="620688"/>
            <a:ext cx="6119664" cy="1470025"/>
          </a:xfrm>
        </p:spPr>
        <p:txBody>
          <a:bodyPr/>
          <a:lstStyle/>
          <a:p>
            <a:r>
              <a:rPr lang="de-DE" sz="2400" dirty="0" smtClean="0">
                <a:latin typeface="Arial"/>
                <a:cs typeface="Arial"/>
              </a:rPr>
              <a:t>INTRODUCTION TO </a:t>
            </a:r>
            <a:br>
              <a:rPr lang="de-DE" sz="2400" dirty="0" smtClean="0">
                <a:latin typeface="Arial"/>
                <a:cs typeface="Arial"/>
              </a:rPr>
            </a:br>
            <a:r>
              <a:rPr lang="de-DE" sz="2400" dirty="0" smtClean="0">
                <a:latin typeface="Arial"/>
                <a:cs typeface="Arial"/>
              </a:rPr>
              <a:t>WIRELESS SENSOR NETWORKS</a:t>
            </a:r>
            <a:endParaRPr lang="de-DE" sz="2400" dirty="0">
              <a:latin typeface="Arial"/>
              <a:cs typeface="Arial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3620616"/>
            <a:ext cx="7416824" cy="1752600"/>
          </a:xfrm>
        </p:spPr>
        <p:txBody>
          <a:bodyPr/>
          <a:lstStyle/>
          <a:p>
            <a:r>
              <a:rPr lang="de-DE" dirty="0" smtClean="0"/>
              <a:t>CHAPTER </a:t>
            </a:r>
            <a:r>
              <a:rPr lang="de-DE" dirty="0" smtClean="0"/>
              <a:t>8: 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dirty="0" smtClean="0"/>
              <a:t>LOCALIZATION TECHNIQUES</a:t>
            </a:r>
            <a:endParaRPr lang="de-DE" dirty="0"/>
          </a:p>
        </p:txBody>
      </p:sp>
      <p:sp>
        <p:nvSpPr>
          <p:cNvPr id="4" name="TextBox 3"/>
          <p:cNvSpPr txBox="1"/>
          <p:nvPr/>
        </p:nvSpPr>
        <p:spPr>
          <a:xfrm>
            <a:off x="3419872" y="4653136"/>
            <a:ext cx="233589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/>
              <a:t>Anna Förster</a:t>
            </a:r>
            <a:endParaRPr lang="en-US" sz="3200" dirty="0"/>
          </a:p>
        </p:txBody>
      </p:sp>
      <p:pic>
        <p:nvPicPr>
          <p:cNvPr id="5" name="Picture 4" descr="111899351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052736"/>
            <a:ext cx="1534115" cy="2311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5" name="Content Placeholder 6"/>
          <p:cNvSpPr txBox="1">
            <a:spLocks/>
          </p:cNvSpPr>
          <p:nvPr/>
        </p:nvSpPr>
        <p:spPr>
          <a:xfrm>
            <a:off x="323528" y="980728"/>
            <a:ext cx="8229600" cy="52894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400" dirty="0" smtClean="0"/>
              <a:t>Localization Challenges and Properties</a:t>
            </a:r>
          </a:p>
          <a:p>
            <a:pPr marL="914400" lvl="1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000" dirty="0" smtClean="0"/>
              <a:t>Location Information</a:t>
            </a:r>
          </a:p>
          <a:p>
            <a:pPr marL="914400" lvl="1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000" dirty="0" smtClean="0"/>
              <a:t>Precision and Accuracy</a:t>
            </a:r>
          </a:p>
          <a:p>
            <a:pPr marL="914400" lvl="1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000" dirty="0" smtClean="0"/>
              <a:t>Localization Costs</a:t>
            </a:r>
            <a:endParaRPr lang="en-US" sz="2000" dirty="0" smtClean="0"/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400" dirty="0" smtClean="0"/>
              <a:t>Pre-Deployment Schemes</a:t>
            </a:r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400" dirty="0" smtClean="0"/>
              <a:t>Proximity Schemes</a:t>
            </a:r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400" dirty="0" smtClean="0"/>
              <a:t>Ranging Schemes</a:t>
            </a:r>
          </a:p>
          <a:p>
            <a:pPr marL="914400" lvl="1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000" dirty="0" smtClean="0"/>
              <a:t>Triangulation</a:t>
            </a:r>
          </a:p>
          <a:p>
            <a:pPr marL="914400" lvl="1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000" dirty="0" smtClean="0"/>
              <a:t>Trilateration</a:t>
            </a:r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400" dirty="0" smtClean="0"/>
              <a:t>Range-Based Localization</a:t>
            </a:r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r>
              <a:rPr lang="en-US" sz="2400" dirty="0" smtClean="0"/>
              <a:t>Range-Free Localization</a:t>
            </a:r>
            <a:endParaRPr lang="en-US" sz="2400" dirty="0" smtClean="0"/>
          </a:p>
          <a:p>
            <a:pPr marL="514350" indent="-514350">
              <a:lnSpc>
                <a:spcPct val="110000"/>
              </a:lnSpc>
              <a:buClr>
                <a:srgbClr val="3C7704"/>
              </a:buClr>
              <a:buFont typeface="+mj-lt"/>
              <a:buAutoNum type="arabicPeriod"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6116446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Location Information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505" y="980728"/>
            <a:ext cx="6371871" cy="4419201"/>
          </a:xfrm>
          <a:prstGeom prst="rect">
            <a:avLst/>
          </a:prstGeom>
        </p:spPr>
      </p:pic>
      <p:sp>
        <p:nvSpPr>
          <p:cNvPr id="6" name="Content Placeholder 6"/>
          <p:cNvSpPr txBox="1">
            <a:spLocks/>
          </p:cNvSpPr>
          <p:nvPr/>
        </p:nvSpPr>
        <p:spPr>
          <a:xfrm>
            <a:off x="323528" y="5373216"/>
            <a:ext cx="8229600" cy="896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Tx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Clr>
                <a:srgbClr val="3C7704"/>
              </a:buClr>
              <a:buNone/>
            </a:pPr>
            <a:r>
              <a:rPr lang="en-US" sz="2400" dirty="0" smtClean="0"/>
              <a:t>Symbolic against physical location</a:t>
            </a:r>
            <a:endParaRPr lang="en-US" sz="2400" dirty="0" smtClean="0"/>
          </a:p>
          <a:p>
            <a:pPr marL="0" indent="0" algn="ctr">
              <a:lnSpc>
                <a:spcPct val="110000"/>
              </a:lnSpc>
              <a:buClr>
                <a:srgbClr val="3C7704"/>
              </a:buClr>
              <a:buNone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631490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Precision and Accuracy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209331"/>
          </a:xfrm>
        </p:spPr>
        <p:txBody>
          <a:bodyPr/>
          <a:lstStyle/>
          <a:p>
            <a:r>
              <a:rPr lang="en-US" b="1" i="1" dirty="0"/>
              <a:t>Localization accuracy </a:t>
            </a:r>
            <a:r>
              <a:rPr lang="en-US" i="1" dirty="0"/>
              <a:t>is </a:t>
            </a:r>
            <a:r>
              <a:rPr lang="en-US" i="1" dirty="0" smtClean="0"/>
              <a:t>the largest distance between the estimated </a:t>
            </a:r>
            <a:r>
              <a:rPr lang="en-US" i="1" dirty="0"/>
              <a:t>and the real position of the sensor node</a:t>
            </a:r>
            <a:r>
              <a:rPr lang="en-US" i="1" dirty="0" smtClean="0"/>
              <a:t>.</a:t>
            </a:r>
          </a:p>
          <a:p>
            <a:pPr marL="0" indent="0">
              <a:buNone/>
            </a:pPr>
            <a:r>
              <a:rPr lang="en-US" i="1" dirty="0" smtClean="0"/>
              <a:t> </a:t>
            </a:r>
            <a:endParaRPr lang="en-US" dirty="0"/>
          </a:p>
          <a:p>
            <a:r>
              <a:rPr lang="en-US" b="1" i="1" dirty="0"/>
              <a:t>Localization precision </a:t>
            </a:r>
            <a:r>
              <a:rPr lang="en-US" i="1" dirty="0"/>
              <a:t>is how often a given accuracy is really achieved. </a:t>
            </a:r>
            <a:endParaRPr lang="en-US" i="1" dirty="0" smtClean="0"/>
          </a:p>
        </p:txBody>
      </p:sp>
    </p:spTree>
    <p:extLst>
      <p:ext uri="{BB962C8B-B14F-4D97-AF65-F5344CB8AC3E}">
        <p14:creationId xmlns:p14="http://schemas.microsoft.com/office/powerpoint/2010/main" val="1069205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Precision and Accuracy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1772816"/>
            <a:ext cx="4114800" cy="4353347"/>
          </a:xfrm>
        </p:spPr>
        <p:txBody>
          <a:bodyPr>
            <a:normAutofit/>
          </a:bodyPr>
          <a:lstStyle/>
          <a:p>
            <a:r>
              <a:rPr lang="en-US" sz="2800" dirty="0" smtClean="0"/>
              <a:t>Example (left): Accuracy of 15 meters with 95% precision (19 out of 20 points are in a radius of 15 meters)</a:t>
            </a:r>
          </a:p>
          <a:p>
            <a:r>
              <a:rPr lang="en-US" sz="2800" dirty="0" smtClean="0"/>
              <a:t>Typical GPS accuracy and precision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4784"/>
            <a:ext cx="4518992" cy="377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630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Financial</a:t>
            </a:r>
            <a:r>
              <a:rPr lang="en-US" dirty="0" smtClean="0"/>
              <a:t> costs: $$$</a:t>
            </a:r>
          </a:p>
          <a:p>
            <a:r>
              <a:rPr lang="en-US" b="1" dirty="0" smtClean="0"/>
              <a:t>Space</a:t>
            </a:r>
            <a:r>
              <a:rPr lang="en-US" dirty="0" smtClean="0"/>
              <a:t> costs: how many space is required for a localization device on board</a:t>
            </a:r>
          </a:p>
          <a:p>
            <a:r>
              <a:rPr lang="en-US" b="1" dirty="0" smtClean="0"/>
              <a:t>Communication</a:t>
            </a:r>
            <a:r>
              <a:rPr lang="en-US" dirty="0" smtClean="0"/>
              <a:t> costs: how much communication is required for localization</a:t>
            </a:r>
          </a:p>
          <a:p>
            <a:r>
              <a:rPr lang="en-US" b="1" dirty="0" smtClean="0"/>
              <a:t>Energy</a:t>
            </a:r>
            <a:r>
              <a:rPr lang="en-US" dirty="0" smtClean="0"/>
              <a:t> costs: </a:t>
            </a:r>
            <a:r>
              <a:rPr lang="en-US" dirty="0"/>
              <a:t>how much </a:t>
            </a:r>
            <a:r>
              <a:rPr lang="en-US" dirty="0" smtClean="0"/>
              <a:t>energy is </a:t>
            </a:r>
            <a:r>
              <a:rPr lang="en-US" dirty="0"/>
              <a:t>required for </a:t>
            </a:r>
            <a:r>
              <a:rPr lang="en-US" dirty="0" smtClean="0"/>
              <a:t>localization</a:t>
            </a:r>
          </a:p>
          <a:p>
            <a:r>
              <a:rPr lang="en-US" b="1" dirty="0" smtClean="0"/>
              <a:t>Infrastructural</a:t>
            </a:r>
            <a:r>
              <a:rPr lang="en-US" dirty="0" smtClean="0"/>
              <a:t> costs: do we need a special infrastructure to enable localization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141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Pre-Deployment schemes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4065315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Install location information before deployment:</a:t>
            </a:r>
          </a:p>
          <a:p>
            <a:r>
              <a:rPr lang="en-US" dirty="0" smtClean="0"/>
              <a:t>Tell each item where it is (e.g. rooms, furniture, etc.)</a:t>
            </a:r>
          </a:p>
          <a:p>
            <a:r>
              <a:rPr lang="en-US" dirty="0" smtClean="0"/>
              <a:t>Install GPS sensors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825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Proximity Schemes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1124744"/>
            <a:ext cx="4114800" cy="5040560"/>
          </a:xfrm>
        </p:spPr>
        <p:txBody>
          <a:bodyPr>
            <a:noAutofit/>
          </a:bodyPr>
          <a:lstStyle/>
          <a:p>
            <a:r>
              <a:rPr lang="en-US" sz="2400" dirty="0" smtClean="0"/>
              <a:t>Guess the approximate location of a node by seeing where are its neighbors</a:t>
            </a:r>
          </a:p>
          <a:p>
            <a:r>
              <a:rPr lang="en-US" sz="2400" dirty="0" smtClean="0"/>
              <a:t>Example: node 1 is in room A, because its only neighbor is there too</a:t>
            </a:r>
          </a:p>
          <a:p>
            <a:r>
              <a:rPr lang="en-US" sz="2400" dirty="0" smtClean="0"/>
              <a:t>Very error prone and imprecise</a:t>
            </a:r>
          </a:p>
          <a:p>
            <a:r>
              <a:rPr lang="en-US" sz="2400" b="1" dirty="0" smtClean="0"/>
              <a:t>Fingerprinting</a:t>
            </a:r>
            <a:r>
              <a:rPr lang="en-US" sz="2400" dirty="0" smtClean="0"/>
              <a:t> can improve the performance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196752"/>
            <a:ext cx="4513476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030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Location Mules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9"/>
            <a:ext cx="8229600" cy="12241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Less tedious than fingerprinting, but more expensive in terms of hardware: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9332" y="2053713"/>
            <a:ext cx="5420940" cy="389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547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Ranging schemes: Triangulation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9912" y="980728"/>
            <a:ext cx="4906888" cy="5145435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Measure the angles between the node and the anchors</a:t>
            </a:r>
          </a:p>
          <a:p>
            <a:r>
              <a:rPr lang="en-US" dirty="0" smtClean="0"/>
              <a:t>How to measure angles? </a:t>
            </a:r>
          </a:p>
          <a:p>
            <a:pPr lvl="1"/>
            <a:r>
              <a:rPr lang="en-US" b="1" dirty="0" smtClean="0"/>
              <a:t>Need for unidirectional antennas</a:t>
            </a:r>
          </a:p>
          <a:p>
            <a:r>
              <a:rPr lang="en-US" dirty="0" smtClean="0"/>
              <a:t>Minimum of two anchors, mathematically not very challenging</a:t>
            </a:r>
          </a:p>
          <a:p>
            <a:r>
              <a:rPr lang="en-US" dirty="0" smtClean="0"/>
              <a:t>Quite good precision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772816"/>
            <a:ext cx="2520280" cy="330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239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Ranging Schemes: Trilateration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484784"/>
            <a:ext cx="2808312" cy="3685910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491880" y="980728"/>
            <a:ext cx="5194920" cy="5145435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Measure the distances between the node and the anchors</a:t>
            </a:r>
          </a:p>
          <a:p>
            <a:r>
              <a:rPr lang="en-US" dirty="0" smtClean="0"/>
              <a:t>How to measure distance? </a:t>
            </a:r>
          </a:p>
          <a:p>
            <a:pPr lvl="1"/>
            <a:r>
              <a:rPr lang="en-US" b="1" dirty="0" smtClean="0"/>
              <a:t>Use signal strength (very imprecise)</a:t>
            </a:r>
          </a:p>
          <a:p>
            <a:pPr lvl="1"/>
            <a:r>
              <a:rPr lang="en-US" b="1" dirty="0" smtClean="0"/>
              <a:t>Use time difference of arrival of two different communication interfaces (e.g. radio and sound)</a:t>
            </a:r>
          </a:p>
          <a:p>
            <a:r>
              <a:rPr lang="en-US" dirty="0" smtClean="0"/>
              <a:t>Minimum of three anchors, mathematically more challenging than triangulation</a:t>
            </a:r>
          </a:p>
        </p:txBody>
      </p:sp>
    </p:spTree>
    <p:extLst>
      <p:ext uri="{BB962C8B-B14F-4D97-AF65-F5344CB8AC3E}">
        <p14:creationId xmlns:p14="http://schemas.microsoft.com/office/powerpoint/2010/main" val="1707089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Time Difference of Arrival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31" y="1052737"/>
            <a:ext cx="7243153" cy="482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200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Localization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Range-Based </a:t>
            </a:r>
            <a:r>
              <a:rPr lang="en-US" sz="2400" b="1" dirty="0" smtClean="0"/>
              <a:t>Localization</a:t>
            </a:r>
          </a:p>
          <a:p>
            <a:r>
              <a:rPr lang="en-US" sz="2400" dirty="0"/>
              <a:t>A protocol (algorithm), which uses range-based techniques for localizing</a:t>
            </a:r>
          </a:p>
          <a:p>
            <a:r>
              <a:rPr lang="en-US" sz="2400" dirty="0"/>
              <a:t>Requires anchors (which know their locations precisely)</a:t>
            </a:r>
          </a:p>
          <a:p>
            <a:r>
              <a:rPr lang="en-US" sz="2400" dirty="0"/>
              <a:t>The node looks for anchors and localizes itself</a:t>
            </a:r>
          </a:p>
          <a:p>
            <a:r>
              <a:rPr lang="en-US" sz="2400" dirty="0"/>
              <a:t>The node can now also serve as anchor for others</a:t>
            </a:r>
          </a:p>
          <a:p>
            <a:pPr lvl="1"/>
            <a:r>
              <a:rPr lang="en-US" sz="2400" dirty="0"/>
              <a:t>Iterative </a:t>
            </a:r>
            <a:r>
              <a:rPr lang="en-US" sz="2400" dirty="0" smtClean="0"/>
              <a:t>Localization</a:t>
            </a:r>
          </a:p>
          <a:p>
            <a:pPr lvl="1"/>
            <a:endParaRPr lang="en-US" sz="2400" dirty="0" smtClean="0"/>
          </a:p>
          <a:p>
            <a:pPr marL="0" indent="0">
              <a:buNone/>
            </a:pPr>
            <a:r>
              <a:rPr lang="en-US" sz="2400" b="1" dirty="0"/>
              <a:t>Range-Free </a:t>
            </a:r>
            <a:r>
              <a:rPr lang="en-US" sz="2400" b="1" dirty="0" smtClean="0"/>
              <a:t>Localization</a:t>
            </a:r>
          </a:p>
          <a:p>
            <a:r>
              <a:rPr lang="en-US" sz="2400" dirty="0"/>
              <a:t>A protocol, which combines ranging techniques with proximity schemes</a:t>
            </a:r>
          </a:p>
          <a:p>
            <a:endParaRPr lang="en-US" sz="2400" dirty="0" smtClean="0"/>
          </a:p>
          <a:p>
            <a:pPr lvl="1"/>
            <a:endParaRPr lang="en-US" sz="2400" dirty="0"/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86042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Hop-Based Localization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4476253"/>
            <a:ext cx="8507288" cy="896963"/>
          </a:xfrm>
        </p:spPr>
        <p:txBody>
          <a:bodyPr>
            <a:noAutofit/>
          </a:bodyPr>
          <a:lstStyle/>
          <a:p>
            <a:r>
              <a:rPr lang="en-US" sz="2200" dirty="0" smtClean="0"/>
              <a:t>Make experiments first and compute mean length of hop, e.g. here 26 meters</a:t>
            </a:r>
          </a:p>
          <a:p>
            <a:r>
              <a:rPr lang="en-US" sz="2200" dirty="0" smtClean="0"/>
              <a:t>Use this metric to compute the distances between all nodes</a:t>
            </a:r>
          </a:p>
          <a:p>
            <a:r>
              <a:rPr lang="en-US" sz="2200" dirty="0" smtClean="0"/>
              <a:t>Use trilateration </a:t>
            </a:r>
            <a:endParaRPr lang="en-US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685117"/>
            <a:ext cx="5865564" cy="381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308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 in Triangle (PIT)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4221088"/>
            <a:ext cx="8435280" cy="1905075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Based on moving the node:</a:t>
            </a:r>
          </a:p>
          <a:p>
            <a:pPr lvl="1"/>
            <a:r>
              <a:rPr lang="en-US" dirty="0" smtClean="0"/>
              <a:t>If you move it in any direction and the distance to all anchors increase/decrease, then it is outside</a:t>
            </a:r>
          </a:p>
          <a:p>
            <a:r>
              <a:rPr lang="en-US" dirty="0" smtClean="0"/>
              <a:t>Not very practical to move nodes around (unless robots)</a:t>
            </a:r>
          </a:p>
          <a:p>
            <a:r>
              <a:rPr lang="en-US" dirty="0" smtClean="0"/>
              <a:t>Instead, use your neighbors as a “moved” version of yourself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692697"/>
            <a:ext cx="5688632" cy="353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829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Localization: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980728"/>
            <a:ext cx="8435280" cy="5145435"/>
          </a:xfrm>
        </p:spPr>
        <p:txBody>
          <a:bodyPr>
            <a:noAutofit/>
          </a:bodyPr>
          <a:lstStyle/>
          <a:p>
            <a:r>
              <a:rPr lang="en-US" sz="2200" dirty="0" smtClean="0"/>
              <a:t>Location information can be symbolic or physical</a:t>
            </a:r>
          </a:p>
          <a:p>
            <a:r>
              <a:rPr lang="en-US" sz="2200" b="1" dirty="0"/>
              <a:t>Pre-deployment methods </a:t>
            </a:r>
            <a:r>
              <a:rPr lang="en-US" sz="2200" dirty="0"/>
              <a:t>include manual or semi-manual procedures of “burning” the right position information onto the right sensor nodes. This is a </a:t>
            </a:r>
            <a:r>
              <a:rPr lang="en-US" sz="2200" dirty="0" smtClean="0"/>
              <a:t>financially </a:t>
            </a:r>
            <a:r>
              <a:rPr lang="en-US" sz="2200" dirty="0"/>
              <a:t>cheap and quite accurate but a very error-prone and tedious process. </a:t>
            </a:r>
            <a:endParaRPr lang="en-US" sz="2200" dirty="0"/>
          </a:p>
          <a:p>
            <a:r>
              <a:rPr lang="en-US" sz="2200" b="1" dirty="0" smtClean="0"/>
              <a:t>Proximity</a:t>
            </a:r>
            <a:r>
              <a:rPr lang="en-US" sz="2200" b="1" dirty="0"/>
              <a:t>-based methods </a:t>
            </a:r>
            <a:r>
              <a:rPr lang="en-US" sz="2200" dirty="0"/>
              <a:t>look for communication neighbors with known positions </a:t>
            </a:r>
            <a:r>
              <a:rPr lang="en-US" sz="2200" dirty="0" smtClean="0"/>
              <a:t>(anchors) and </a:t>
            </a:r>
            <a:r>
              <a:rPr lang="en-US" sz="2200" dirty="0"/>
              <a:t>simply take this information as their own. This is simple but not accurate. </a:t>
            </a:r>
            <a:endParaRPr lang="en-US" sz="2200" dirty="0"/>
          </a:p>
          <a:p>
            <a:r>
              <a:rPr lang="en-US" sz="2200" b="1" dirty="0" smtClean="0"/>
              <a:t>Range</a:t>
            </a:r>
            <a:r>
              <a:rPr lang="en-US" sz="2200" b="1" dirty="0"/>
              <a:t>-based algorithms </a:t>
            </a:r>
            <a:r>
              <a:rPr lang="en-US" sz="2200" b="1" dirty="0" smtClean="0"/>
              <a:t>fi</a:t>
            </a:r>
            <a:r>
              <a:rPr lang="en-US" sz="2200" dirty="0" smtClean="0"/>
              <a:t>rst </a:t>
            </a:r>
            <a:r>
              <a:rPr lang="en-US" sz="2200" dirty="0"/>
              <a:t>measure either the angles or the distances to known anchors and then use triangulation or trilateration to compute quite accurately their own locations. </a:t>
            </a:r>
            <a:r>
              <a:rPr lang="en-US" sz="2200" dirty="0" smtClean="0"/>
              <a:t>Performing the </a:t>
            </a:r>
            <a:r>
              <a:rPr lang="en-US" sz="2200" dirty="0"/>
              <a:t>measurements </a:t>
            </a:r>
            <a:r>
              <a:rPr lang="en-US" sz="2200" dirty="0" smtClean="0"/>
              <a:t>is challenging and requires </a:t>
            </a:r>
            <a:r>
              <a:rPr lang="en-US" sz="2200" dirty="0"/>
              <a:t>additional </a:t>
            </a:r>
            <a:r>
              <a:rPr lang="en-US" sz="2200" dirty="0" smtClean="0"/>
              <a:t>hardware </a:t>
            </a:r>
            <a:r>
              <a:rPr lang="en-US" sz="2200" dirty="0"/>
              <a:t>(angles and distances) or are quite unreliable (</a:t>
            </a:r>
            <a:r>
              <a:rPr lang="en-US" sz="2200" dirty="0" smtClean="0"/>
              <a:t>distances like hops)</a:t>
            </a:r>
            <a:r>
              <a:rPr lang="en-US" sz="2200" dirty="0"/>
              <a:t>. 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802941734"/>
      </p:ext>
    </p:extLst>
  </p:cSld>
  <p:clrMapOvr>
    <a:masterClrMapping/>
  </p:clrMapOvr>
</p:sld>
</file>

<file path=ppt/theme/theme1.xml><?xml version="1.0" encoding="utf-8"?>
<a:theme xmlns:a="http://schemas.openxmlformats.org/drawingml/2006/main" name="comnets_ppt_theme_gru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comnets_ppt_theme_gruen.potx</Template>
  <TotalTime>8518</TotalTime>
  <Words>629</Words>
  <Application>Microsoft Macintosh PowerPoint</Application>
  <PresentationFormat>On-screen Show (4:3)</PresentationFormat>
  <Paragraphs>79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comnets_ppt_theme_gruen</vt:lpstr>
      <vt:lpstr>INTRODUCTION TO  WIRELESS SENSOR NETWORKS</vt:lpstr>
      <vt:lpstr>OVERVIEW</vt:lpstr>
      <vt:lpstr>Types of Location Information</vt:lpstr>
      <vt:lpstr>Precision and Accuracy</vt:lpstr>
      <vt:lpstr>Precision and Accuracy</vt:lpstr>
      <vt:lpstr>Costs</vt:lpstr>
      <vt:lpstr>Pre-Deployment schemes</vt:lpstr>
      <vt:lpstr>Proximity Schemes</vt:lpstr>
      <vt:lpstr>Location Mules</vt:lpstr>
      <vt:lpstr>Ranging schemes: Triangulation</vt:lpstr>
      <vt:lpstr>Ranging Schemes: Trilateration</vt:lpstr>
      <vt:lpstr>Time Difference of Arrival</vt:lpstr>
      <vt:lpstr>Localization Algorithms</vt:lpstr>
      <vt:lpstr>Hop-Based Localization</vt:lpstr>
      <vt:lpstr>Point in Triangle (PIT)</vt:lpstr>
      <vt:lpstr>Localization: 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Sarah</dc:creator>
  <cp:lastModifiedBy>Anna Förster</cp:lastModifiedBy>
  <cp:revision>178</cp:revision>
  <dcterms:created xsi:type="dcterms:W3CDTF">2015-07-16T14:19:04Z</dcterms:created>
  <dcterms:modified xsi:type="dcterms:W3CDTF">2018-03-28T09:12:40Z</dcterms:modified>
</cp:coreProperties>
</file>