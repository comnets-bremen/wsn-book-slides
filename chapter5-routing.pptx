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7" r:id="rId15"/>
    <p:sldId id="286" r:id="rId16"/>
    <p:sldId id="288" r:id="rId17"/>
    <p:sldId id="289" r:id="rId18"/>
    <p:sldId id="290" r:id="rId19"/>
    <p:sldId id="291" r:id="rId20"/>
    <p:sldId id="292" r:id="rId21"/>
    <p:sldId id="273" r:id="rId22"/>
    <p:sldId id="293" r:id="rId2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77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50000" autoAdjust="0"/>
  </p:normalViewPr>
  <p:slideViewPr>
    <p:cSldViewPr>
      <p:cViewPr varScale="1">
        <p:scale>
          <a:sx n="131" d="100"/>
          <a:sy n="131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27BCF-15D2-D548-9FD8-58FD9160F476}" type="datetimeFigureOut">
              <a:rPr lang="en-US" smtClean="0"/>
              <a:t>4/18/18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22A97-2FC2-9B4E-B45A-926C23B3A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98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94272-E92C-C846-A641-780E56020FA0}" type="datetimeFigureOut">
              <a:rPr lang="en-US" smtClean="0"/>
              <a:t>4/18/18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DB47-CFE0-724D-8A5B-56F53A960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465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Click to edit Master subtitle style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Clr>
                <a:srgbClr val="3C7704"/>
              </a:buClr>
              <a:buFont typeface="+mj-lt"/>
              <a:buAutoNum type="arabicPeriod"/>
              <a:defRPr/>
            </a:lvl1pPr>
            <a:lvl2pPr marL="971550" indent="-514350">
              <a:buClr>
                <a:srgbClr val="3C7704"/>
              </a:buClr>
              <a:buFont typeface="+mj-lt"/>
              <a:buAutoNum type="arabicPeriod"/>
              <a:defRPr/>
            </a:lvl2pPr>
            <a:lvl3pPr marL="1371600" indent="-457200">
              <a:buClr>
                <a:srgbClr val="3C7704"/>
              </a:buClr>
              <a:buFont typeface="+mj-lt"/>
              <a:buAutoNum type="arabicPeriod"/>
              <a:defRPr/>
            </a:lvl3pPr>
            <a:lvl4pPr marL="1828800" indent="-457200">
              <a:buClr>
                <a:srgbClr val="3C7704"/>
              </a:buClr>
              <a:buFont typeface="+mj-lt"/>
              <a:buAutoNum type="arabicPeriod"/>
              <a:defRPr/>
            </a:lvl4pPr>
            <a:lvl5pPr marL="2286000" indent="-457200">
              <a:buClr>
                <a:srgbClr val="3C7704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</a:t>
            </a:r>
            <a:r>
              <a:rPr lang="de-DE" dirty="0" err="1" smtClean="0"/>
              <a:t>text</a:t>
            </a:r>
            <a:r>
              <a:rPr lang="de-DE" dirty="0" smtClean="0"/>
              <a:t> </a:t>
            </a:r>
            <a:r>
              <a:rPr lang="de-DE" dirty="0" err="1" smtClean="0"/>
              <a:t>styles</a:t>
            </a:r>
            <a:endParaRPr lang="de-DE" dirty="0" smtClean="0"/>
          </a:p>
          <a:p>
            <a:pPr lvl="1"/>
            <a:r>
              <a:rPr lang="de-DE" dirty="0" smtClean="0"/>
              <a:t>Second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2"/>
            <a:r>
              <a:rPr lang="de-DE" dirty="0" smtClean="0"/>
              <a:t>Third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3"/>
            <a:r>
              <a:rPr lang="de-DE" dirty="0" err="1" smtClean="0"/>
              <a:t>Fourth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4"/>
            <a:r>
              <a:rPr lang="de-DE" dirty="0" err="1" smtClean="0"/>
              <a:t>Fifth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6809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 smtClean="0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4" name="Rectangle 3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.emf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80728"/>
            <a:ext cx="8229600" cy="5145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-108520" y="6165304"/>
            <a:ext cx="2880320" cy="6926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3008" y="6237312"/>
            <a:ext cx="990600" cy="482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259632" y="6309320"/>
            <a:ext cx="1181100" cy="355600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148064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DD6B2-4EAD-7646-BE25-47CB62D96D2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4" r:id="rId6"/>
    <p:sldLayoutId id="2147483655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2"/>
        </a:buBlip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12"/>
        </a:buBlip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8720" y="620688"/>
            <a:ext cx="6119664" cy="1470025"/>
          </a:xfrm>
        </p:spPr>
        <p:txBody>
          <a:bodyPr/>
          <a:lstStyle/>
          <a:p>
            <a:r>
              <a:rPr lang="de-DE" sz="2400" dirty="0" smtClean="0">
                <a:latin typeface="Arial"/>
                <a:cs typeface="Arial"/>
              </a:rPr>
              <a:t>INTRODUCTION TO </a:t>
            </a:r>
            <a:br>
              <a:rPr lang="de-DE" sz="2400" dirty="0" smtClean="0">
                <a:latin typeface="Arial"/>
                <a:cs typeface="Arial"/>
              </a:rPr>
            </a:br>
            <a:r>
              <a:rPr lang="de-DE" sz="2400" dirty="0" smtClean="0">
                <a:latin typeface="Arial"/>
                <a:cs typeface="Arial"/>
              </a:rPr>
              <a:t>WIRELESS SENSOR NETWORKS</a:t>
            </a:r>
            <a:endParaRPr lang="de-DE" sz="2400" dirty="0"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3620616"/>
            <a:ext cx="7416824" cy="1752600"/>
          </a:xfrm>
        </p:spPr>
        <p:txBody>
          <a:bodyPr/>
          <a:lstStyle/>
          <a:p>
            <a:r>
              <a:rPr lang="de-DE" dirty="0" smtClean="0"/>
              <a:t>CHAPTER 5: </a:t>
            </a:r>
            <a:br>
              <a:rPr lang="de-DE" dirty="0" smtClean="0"/>
            </a:br>
            <a:r>
              <a:rPr lang="de-DE" dirty="0" smtClean="0"/>
              <a:t>MULTI-HOP COMMUNICATIONS</a:t>
            </a:r>
            <a:endParaRPr lang="de-DE" dirty="0"/>
          </a:p>
        </p:txBody>
      </p:sp>
      <p:sp>
        <p:nvSpPr>
          <p:cNvPr id="4" name="TextBox 3"/>
          <p:cNvSpPr txBox="1"/>
          <p:nvPr/>
        </p:nvSpPr>
        <p:spPr>
          <a:xfrm>
            <a:off x="3419872" y="4653136"/>
            <a:ext cx="233589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Anna Förster</a:t>
            </a:r>
            <a:endParaRPr lang="en-US" sz="3200" dirty="0"/>
          </a:p>
        </p:txBody>
      </p:sp>
      <p:pic>
        <p:nvPicPr>
          <p:cNvPr id="5" name="Picture 4" descr="111899351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52736"/>
            <a:ext cx="1534115" cy="231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323528" y="980728"/>
            <a:ext cx="8229600" cy="52894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Routing Basics</a:t>
            </a:r>
            <a:endParaRPr lang="en-US" sz="20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Routing Metrics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Routing Protocols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Full-network broadcast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Location-based routing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Directed Diffusion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Collection Tree Protocol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err="1" smtClean="0"/>
              <a:t>Zigbee</a:t>
            </a:r>
            <a:endParaRPr lang="en-US" sz="20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02794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Basic 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1" dirty="0"/>
              <a:t>Data source. </a:t>
            </a:r>
            <a:r>
              <a:rPr lang="en-US" sz="2400" i="1" dirty="0"/>
              <a:t>The node in the network, which produces the required data and is able to send it out to other nodes in the network. </a:t>
            </a:r>
            <a:endParaRPr lang="en-US" sz="2400" dirty="0"/>
          </a:p>
          <a:p>
            <a:r>
              <a:rPr lang="en-US" sz="2400" b="1" i="1" dirty="0"/>
              <a:t>Data destination. </a:t>
            </a:r>
            <a:r>
              <a:rPr lang="en-US" sz="2400" i="1" dirty="0"/>
              <a:t>The node in the network, which requires the </a:t>
            </a:r>
            <a:endParaRPr lang="en-US" sz="2400" dirty="0"/>
          </a:p>
          <a:p>
            <a:r>
              <a:rPr lang="en-US" sz="2400" i="1" dirty="0"/>
              <a:t>data and is able to receive it from other nodes in the network. </a:t>
            </a:r>
            <a:endParaRPr lang="en-US" sz="2400" dirty="0"/>
          </a:p>
          <a:p>
            <a:r>
              <a:rPr lang="en-US" sz="2400" b="1" i="1" dirty="0" smtClean="0"/>
              <a:t>Data forwarder. </a:t>
            </a:r>
            <a:r>
              <a:rPr lang="en-US" sz="2400" i="1" dirty="0" smtClean="0"/>
              <a:t>Any node in the network, which is not the source </a:t>
            </a:r>
            <a:r>
              <a:rPr lang="en-US" sz="2400" i="1" dirty="0"/>
              <a:t>or the destination of the data, which is able to receive it from another node and to send it further in the network. </a:t>
            </a:r>
            <a:endParaRPr lang="en-US" sz="2400" i="1" dirty="0" smtClean="0"/>
          </a:p>
          <a:p>
            <a:r>
              <a:rPr lang="en-US" sz="2400" b="1" i="1" dirty="0"/>
              <a:t>Data sink. </a:t>
            </a:r>
            <a:r>
              <a:rPr lang="en-US" sz="2400" i="1" dirty="0"/>
              <a:t>A dedicated node(s) in the network, which is the implicit destination of any data in this network. 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2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 Scenarios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844824"/>
            <a:ext cx="8772302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87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Routing</a:t>
            </a:r>
            <a:r>
              <a:rPr lang="en-US" i="1" dirty="0"/>
              <a:t> is the process of selecting a sequence of nodes in the network, beginning from the data source(s) and ending at the data destination(s). This sequence of nodes is also called the routing path. </a:t>
            </a:r>
            <a:endParaRPr lang="en-US" dirty="0"/>
          </a:p>
          <a:p>
            <a:r>
              <a:rPr lang="en-US" i="1" dirty="0"/>
              <a:t>A valid </a:t>
            </a:r>
            <a:r>
              <a:rPr lang="en-US" b="1" i="1" dirty="0"/>
              <a:t>routing path </a:t>
            </a:r>
            <a:r>
              <a:rPr lang="en-US" i="1" dirty="0"/>
              <a:t>consists of </a:t>
            </a:r>
            <a:r>
              <a:rPr lang="en-US" i="1"/>
              <a:t>a </a:t>
            </a:r>
            <a:r>
              <a:rPr lang="en-US" i="1" smtClean="0"/>
              <a:t>finite </a:t>
            </a:r>
            <a:r>
              <a:rPr lang="en-US" i="1" dirty="0"/>
              <a:t>number of nodes and it does not contain loops.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697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Metric: Location and Distance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4330824" cy="432048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Real geographic locations/distances</a:t>
            </a:r>
          </a:p>
          <a:p>
            <a:r>
              <a:rPr lang="en-US" sz="2400" dirty="0" smtClean="0"/>
              <a:t>Approximations like Manhattan distance</a:t>
            </a:r>
          </a:p>
          <a:p>
            <a:r>
              <a:rPr lang="en-US" sz="2400" dirty="0" smtClean="0"/>
              <a:t>Simple and clear</a:t>
            </a:r>
          </a:p>
          <a:p>
            <a:r>
              <a:rPr lang="en-US" sz="2400" dirty="0" smtClean="0"/>
              <a:t>Costly to obtain locations and to exchange information (see Chapter 8)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988840"/>
            <a:ext cx="3998744" cy="324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87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Metric: Hops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064896" cy="1944216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An approximation of distance in terms of communication</a:t>
            </a:r>
          </a:p>
          <a:p>
            <a:r>
              <a:rPr lang="en-US" dirty="0" smtClean="0"/>
              <a:t>Not trivial to obtain for all nodes in the network</a:t>
            </a:r>
          </a:p>
          <a:p>
            <a:r>
              <a:rPr lang="en-US" dirty="0" smtClean="0"/>
              <a:t>Reflects very well the topology of the network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852936"/>
            <a:ext cx="5734124" cy="321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40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Metric: Number of Retransmissions (ETX)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1872208"/>
          </a:xfrm>
        </p:spPr>
        <p:txBody>
          <a:bodyPr>
            <a:noAutofit/>
          </a:bodyPr>
          <a:lstStyle/>
          <a:p>
            <a:r>
              <a:rPr lang="en-US" dirty="0" smtClean="0"/>
              <a:t>An improvement of hops</a:t>
            </a:r>
          </a:p>
          <a:p>
            <a:r>
              <a:rPr lang="en-US" dirty="0" smtClean="0"/>
              <a:t>Takes into consideration also the needed retransmissions</a:t>
            </a:r>
          </a:p>
          <a:p>
            <a:r>
              <a:rPr lang="en-US" dirty="0"/>
              <a:t>The number of retransmissions ETX over a route is always at least the number of hops over the same route.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39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Metric: Delivery Delay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363272" cy="2088232"/>
          </a:xfrm>
        </p:spPr>
        <p:txBody>
          <a:bodyPr>
            <a:noAutofit/>
          </a:bodyPr>
          <a:lstStyle/>
          <a:p>
            <a:r>
              <a:rPr lang="en-US" sz="2000" dirty="0"/>
              <a:t>Delivery delay is the time elapsed between sending a packet at the source and receiving it at the destination, irrespective of the delay reason. </a:t>
            </a:r>
          </a:p>
          <a:p>
            <a:r>
              <a:rPr lang="en-US" sz="2000" dirty="0" smtClean="0"/>
              <a:t>Reflects well the topology of the network and the interplay of different protocols and algorithms (e.g. TDMA schedules)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852936"/>
            <a:ext cx="6216793" cy="30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23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Full-Network Broadcast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9"/>
            <a:ext cx="8435280" cy="1728191"/>
          </a:xfrm>
        </p:spPr>
        <p:txBody>
          <a:bodyPr>
            <a:normAutofit/>
          </a:bodyPr>
          <a:lstStyle/>
          <a:p>
            <a:r>
              <a:rPr lang="en-US" sz="2100" dirty="0" smtClean="0"/>
              <a:t>Flooding or full</a:t>
            </a:r>
            <a:r>
              <a:rPr lang="en-US" sz="2100" dirty="0"/>
              <a:t>-</a:t>
            </a:r>
            <a:r>
              <a:rPr lang="en-US" sz="2100" dirty="0" smtClean="0"/>
              <a:t>network broadcast is defined as sending a single </a:t>
            </a:r>
            <a:r>
              <a:rPr lang="en-US" sz="2100" dirty="0"/>
              <a:t>packet from any source in the network to all other nodes in the network, </a:t>
            </a:r>
            <a:r>
              <a:rPr lang="en-US" sz="2100" dirty="0" smtClean="0"/>
              <a:t>irrespective </a:t>
            </a:r>
            <a:r>
              <a:rPr lang="en-US" sz="2100" dirty="0"/>
              <a:t>of whether they need this packet or not. </a:t>
            </a:r>
          </a:p>
          <a:p>
            <a:r>
              <a:rPr lang="en-US" sz="2100" dirty="0" smtClean="0"/>
              <a:t>Main challenge: avoid broadcast storms</a:t>
            </a:r>
            <a:endParaRPr lang="en-US" sz="2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78" y="2564904"/>
            <a:ext cx="7312130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16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Network Broadcast Algorithm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628800"/>
            <a:ext cx="5789338" cy="388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95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Location-Based 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Any data forwarder (beginning at the source) compares the coordinates of the destination with the coordinates of all its neighbors and selects one to forward the data. </a:t>
            </a:r>
          </a:p>
          <a:p>
            <a:r>
              <a:rPr lang="en-US" dirty="0" smtClean="0"/>
              <a:t>A neighbor </a:t>
            </a:r>
            <a:r>
              <a:rPr lang="en-US" dirty="0"/>
              <a:t>is </a:t>
            </a:r>
            <a:r>
              <a:rPr lang="en-US" dirty="0" smtClean="0"/>
              <a:t>defined </a:t>
            </a:r>
            <a:r>
              <a:rPr lang="en-US" dirty="0"/>
              <a:t>to have a </a:t>
            </a:r>
            <a:r>
              <a:rPr lang="en-US" b="1" dirty="0"/>
              <a:t>positive progress </a:t>
            </a:r>
            <a:r>
              <a:rPr lang="en-US" dirty="0"/>
              <a:t>towards some destination, when its own distance to the sink (independently from the routing metric used) is smaller than the distance to the sink of the current node.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a routing process is always able to </a:t>
            </a:r>
            <a:r>
              <a:rPr lang="en-US" dirty="0" smtClean="0"/>
              <a:t>find </a:t>
            </a:r>
            <a:r>
              <a:rPr lang="en-US" dirty="0"/>
              <a:t>a </a:t>
            </a:r>
            <a:r>
              <a:rPr lang="en-US" dirty="0" err="1"/>
              <a:t>neighbour</a:t>
            </a:r>
            <a:r>
              <a:rPr lang="en-US" dirty="0"/>
              <a:t> with positive progress towards the destination, it is guaranteed that the data packet will reach the destination in </a:t>
            </a:r>
            <a:r>
              <a:rPr lang="en-US" dirty="0" smtClean="0"/>
              <a:t>finite </a:t>
            </a:r>
            <a:r>
              <a:rPr lang="en-US" dirty="0"/>
              <a:t>number of hops.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633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Location-Based Routing: </a:t>
            </a:r>
            <a:r>
              <a:rPr lang="en-US" dirty="0" err="1" smtClean="0"/>
              <a:t>Deadends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653136"/>
            <a:ext cx="8229600" cy="1152128"/>
          </a:xfrm>
        </p:spPr>
        <p:txBody>
          <a:bodyPr>
            <a:noAutofit/>
          </a:bodyPr>
          <a:lstStyle/>
          <a:p>
            <a:r>
              <a:rPr lang="en-US" sz="2000" dirty="0" smtClean="0"/>
              <a:t>In case of a </a:t>
            </a:r>
            <a:r>
              <a:rPr lang="en-US" sz="2000" dirty="0" err="1" smtClean="0"/>
              <a:t>deadend</a:t>
            </a:r>
            <a:r>
              <a:rPr lang="en-US" sz="2000" dirty="0" smtClean="0"/>
              <a:t>, follow “face routing” or the right-hand rule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340768"/>
            <a:ext cx="5816106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82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Location-Based Routing: Face Routing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836712"/>
            <a:ext cx="5824096" cy="3637271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95536" y="4437112"/>
            <a:ext cx="8229600" cy="1800200"/>
          </a:xfrm>
        </p:spPr>
        <p:txBody>
          <a:bodyPr>
            <a:no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right-hand rule, and also the left-hand rule, is used to escape from a simply connected maze whose walls are connected to each other. Next time you enter a maze, put your right hand on the wall next to you and follow it. You are guaranteed to </a:t>
            </a:r>
            <a:r>
              <a:rPr lang="en-US" sz="2000" dirty="0" smtClean="0"/>
              <a:t>find </a:t>
            </a:r>
            <a:r>
              <a:rPr lang="en-US" sz="2000" dirty="0"/>
              <a:t>another exit, if there is one. </a:t>
            </a:r>
          </a:p>
        </p:txBody>
      </p:sp>
    </p:spTree>
    <p:extLst>
      <p:ext uri="{BB962C8B-B14F-4D97-AF65-F5344CB8AC3E}">
        <p14:creationId xmlns:p14="http://schemas.microsoft.com/office/powerpoint/2010/main" val="1204769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Location-Based Routing: Algorithm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668" y="858782"/>
            <a:ext cx="6161660" cy="523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22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Directed Diffusion (DD)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publish-subscribe algorithm</a:t>
            </a:r>
          </a:p>
          <a:p>
            <a:r>
              <a:rPr lang="en-US" dirty="0" smtClean="0"/>
              <a:t>Sinks register with “information interests” to sensors</a:t>
            </a:r>
          </a:p>
          <a:p>
            <a:r>
              <a:rPr lang="en-US" dirty="0" smtClean="0"/>
              <a:t>Sensors route data to all interested sinks</a:t>
            </a:r>
          </a:p>
          <a:p>
            <a:r>
              <a:rPr lang="en-US" dirty="0" smtClean="0"/>
              <a:t>Based on delivery delay, but checked in both directions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475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DD: Main Algorithm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836712"/>
            <a:ext cx="5256584" cy="5290718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3178696" cy="413732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Four phases</a:t>
            </a:r>
          </a:p>
          <a:p>
            <a:r>
              <a:rPr lang="en-US" sz="2400" dirty="0" smtClean="0"/>
              <a:t>Makes sure that communication works in both directions (recall: asymmetric links! TDMA schedules!)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6225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DD: Variations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464496"/>
          </a:xfrm>
        </p:spPr>
        <p:txBody>
          <a:bodyPr/>
          <a:lstStyle/>
          <a:p>
            <a:r>
              <a:rPr lang="en-US" b="1" dirty="0" smtClean="0"/>
              <a:t>One Phase Pull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only Interest Dissemination and Fast Data Delivery</a:t>
            </a:r>
          </a:p>
          <a:p>
            <a:r>
              <a:rPr lang="en-US" b="1" dirty="0" smtClean="0"/>
              <a:t>Push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Slow Delivery starts without Interest Dissemination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531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Collection Tree Protocol (CTP)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1656184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Consists of Link Management (already discussed in Chapter 4) and Routing</a:t>
            </a:r>
          </a:p>
          <a:p>
            <a:r>
              <a:rPr lang="en-US" sz="2400" dirty="0" smtClean="0"/>
              <a:t>Routing selects the neighbor with minimum ETX to sink: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636912"/>
            <a:ext cx="5411041" cy="306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61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Zigbee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Node Roles:</a:t>
            </a:r>
          </a:p>
          <a:p>
            <a:pPr lvl="1"/>
            <a:r>
              <a:rPr lang="en-US" dirty="0" smtClean="0"/>
              <a:t>Coordinator</a:t>
            </a:r>
          </a:p>
          <a:p>
            <a:pPr lvl="1"/>
            <a:r>
              <a:rPr lang="en-US" dirty="0" smtClean="0"/>
              <a:t>Router</a:t>
            </a:r>
          </a:p>
          <a:p>
            <a:pPr lvl="1"/>
            <a:r>
              <a:rPr lang="en-US" dirty="0" smtClean="0"/>
              <a:t>End Device</a:t>
            </a:r>
          </a:p>
          <a:p>
            <a:r>
              <a:rPr lang="en-US" dirty="0" smtClean="0"/>
              <a:t>Beacon-Less </a:t>
            </a:r>
            <a:r>
              <a:rPr lang="en-US" dirty="0" err="1" smtClean="0"/>
              <a:t>Zigbee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Routers use CSMA/CA, end devices sleep as much as they wish</a:t>
            </a:r>
          </a:p>
          <a:p>
            <a:r>
              <a:rPr lang="en-US" dirty="0" smtClean="0"/>
              <a:t>Beacon-based </a:t>
            </a:r>
            <a:r>
              <a:rPr lang="en-US" dirty="0" err="1" smtClean="0"/>
              <a:t>Zigbee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Routers use TDMA to inform end devices when they are awake</a:t>
            </a:r>
          </a:p>
          <a:p>
            <a:pPr lvl="1"/>
            <a:r>
              <a:rPr lang="en-US" dirty="0" smtClean="0"/>
              <a:t>Requires time synchronization</a:t>
            </a:r>
          </a:p>
          <a:p>
            <a:r>
              <a:rPr lang="en-US" dirty="0" smtClean="0"/>
              <a:t>Routing is based on AODV with full routing paths (Internet style vs. hop-by-hop in WSNs)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41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Routing: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640960" cy="5145435"/>
          </a:xfrm>
        </p:spPr>
        <p:txBody>
          <a:bodyPr>
            <a:noAutofit/>
          </a:bodyPr>
          <a:lstStyle/>
          <a:p>
            <a:r>
              <a:rPr lang="en-US" sz="2400" dirty="0"/>
              <a:t>Routing is the process of forwarding a packet from the </a:t>
            </a:r>
            <a:r>
              <a:rPr lang="en-US" sz="2400" b="1" dirty="0"/>
              <a:t>source </a:t>
            </a:r>
            <a:r>
              <a:rPr lang="en-US" sz="2400" dirty="0"/>
              <a:t>to a </a:t>
            </a:r>
            <a:r>
              <a:rPr lang="en-US" sz="2400" b="1" dirty="0" smtClean="0"/>
              <a:t>destination </a:t>
            </a:r>
            <a:r>
              <a:rPr lang="en-US" sz="2400" dirty="0"/>
              <a:t>via intermediate nodes called routers or forwarders. </a:t>
            </a:r>
          </a:p>
          <a:p>
            <a:r>
              <a:rPr lang="en-US" sz="2400" dirty="0" smtClean="0"/>
              <a:t>Routing </a:t>
            </a:r>
            <a:r>
              <a:rPr lang="en-US" sz="2400" dirty="0"/>
              <a:t>in WSNs is performed always </a:t>
            </a:r>
            <a:r>
              <a:rPr lang="en-US" sz="2400" b="1" dirty="0"/>
              <a:t>hop-by-hop</a:t>
            </a:r>
            <a:r>
              <a:rPr lang="en-US" sz="2400" dirty="0"/>
              <a:t>. </a:t>
            </a:r>
          </a:p>
          <a:p>
            <a:r>
              <a:rPr lang="en-US" sz="2400" dirty="0" smtClean="0"/>
              <a:t>You </a:t>
            </a:r>
            <a:r>
              <a:rPr lang="en-US" sz="2400" dirty="0"/>
              <a:t>use </a:t>
            </a:r>
            <a:r>
              <a:rPr lang="en-US" sz="2400" b="1" dirty="0"/>
              <a:t>routing metrics </a:t>
            </a:r>
            <a:r>
              <a:rPr lang="en-US" sz="2400" dirty="0"/>
              <a:t>to decide which next hop to </a:t>
            </a:r>
            <a:r>
              <a:rPr lang="en-US" sz="2400" dirty="0" smtClean="0"/>
              <a:t>take: </a:t>
            </a:r>
            <a:r>
              <a:rPr lang="en-US" sz="2400" b="1" dirty="0" smtClean="0"/>
              <a:t>hops</a:t>
            </a:r>
            <a:r>
              <a:rPr lang="en-US" sz="2400" dirty="0"/>
              <a:t>, </a:t>
            </a:r>
            <a:r>
              <a:rPr lang="en-US" sz="2400" b="1" dirty="0"/>
              <a:t>delay</a:t>
            </a:r>
            <a:r>
              <a:rPr lang="en-US" sz="2400" dirty="0"/>
              <a:t>, </a:t>
            </a:r>
            <a:r>
              <a:rPr lang="en-US" sz="2400" b="1" dirty="0"/>
              <a:t>and ETX</a:t>
            </a:r>
            <a:r>
              <a:rPr lang="en-US" sz="2400" dirty="0"/>
              <a:t>. </a:t>
            </a:r>
          </a:p>
          <a:p>
            <a:r>
              <a:rPr lang="en-US" sz="2400" b="1" dirty="0" smtClean="0"/>
              <a:t>Routing </a:t>
            </a:r>
            <a:r>
              <a:rPr lang="en-US" sz="2400" b="1" dirty="0"/>
              <a:t>highly depends </a:t>
            </a:r>
            <a:r>
              <a:rPr lang="en-US" sz="2400" dirty="0"/>
              <a:t>on the MAC and link layer protocols at least. </a:t>
            </a:r>
          </a:p>
          <a:p>
            <a:r>
              <a:rPr lang="en-US" sz="2400" dirty="0" smtClean="0"/>
              <a:t>Routing </a:t>
            </a:r>
            <a:r>
              <a:rPr lang="en-US" sz="2400" dirty="0"/>
              <a:t>is very </a:t>
            </a:r>
            <a:r>
              <a:rPr lang="en-US" sz="2400" b="1" dirty="0"/>
              <a:t>sensitive to link quality</a:t>
            </a:r>
            <a:r>
              <a:rPr lang="en-US" sz="2400" dirty="0"/>
              <a:t>—the more stable links are, the </a:t>
            </a:r>
            <a:r>
              <a:rPr lang="en-US" sz="2400" dirty="0" smtClean="0"/>
              <a:t>better </a:t>
            </a:r>
            <a:r>
              <a:rPr lang="en-US" sz="2400" dirty="0"/>
              <a:t>the routing protocol works. </a:t>
            </a:r>
          </a:p>
          <a:p>
            <a:r>
              <a:rPr lang="en-US" sz="2400" dirty="0" smtClean="0"/>
              <a:t>Almost </a:t>
            </a:r>
            <a:r>
              <a:rPr lang="en-US" sz="2400" dirty="0"/>
              <a:t>none of the currently existing protocols guarantee delivery of all packets. Instead, WSN routing is </a:t>
            </a:r>
            <a:r>
              <a:rPr lang="en-US" sz="2400" b="1" dirty="0"/>
              <a:t>best effort</a:t>
            </a:r>
            <a:r>
              <a:rPr lang="en-US" sz="2400" dirty="0"/>
              <a:t>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294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Routing: Summary of Protocols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640960" cy="5145435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Controlled full</a:t>
            </a:r>
            <a:r>
              <a:rPr lang="en-US" sz="2000" b="1" dirty="0"/>
              <a:t>-</a:t>
            </a:r>
            <a:r>
              <a:rPr lang="en-US" sz="2000" b="1" dirty="0" smtClean="0"/>
              <a:t>network broadcast </a:t>
            </a:r>
            <a:r>
              <a:rPr lang="en-US" sz="2000" dirty="0" smtClean="0"/>
              <a:t>sends a single packet from one source </a:t>
            </a:r>
            <a:r>
              <a:rPr lang="en-US" sz="2000" dirty="0"/>
              <a:t>to all other nodes of the network. It is guaranteed that it will stop once all nodes receive the packet. </a:t>
            </a:r>
          </a:p>
          <a:p>
            <a:r>
              <a:rPr lang="en-US" sz="2000" b="1" dirty="0" smtClean="0"/>
              <a:t>Location</a:t>
            </a:r>
            <a:r>
              <a:rPr lang="en-US" sz="2000" b="1" dirty="0"/>
              <a:t>-based routing </a:t>
            </a:r>
            <a:r>
              <a:rPr lang="en-US" sz="2000" dirty="0"/>
              <a:t>selects next hops from a single source to a single destination by evaluating the geographic distance between the next hops and the </a:t>
            </a:r>
            <a:r>
              <a:rPr lang="en-US" sz="2000" dirty="0" smtClean="0"/>
              <a:t>final </a:t>
            </a:r>
            <a:r>
              <a:rPr lang="en-US" sz="2000" dirty="0"/>
              <a:t>destination. Sometimes it enters a </a:t>
            </a:r>
            <a:r>
              <a:rPr lang="en-US" sz="2000" dirty="0" err="1"/>
              <a:t>deadend</a:t>
            </a:r>
            <a:r>
              <a:rPr lang="en-US" sz="2000" dirty="0"/>
              <a:t>, which needs to be solved via face routing. </a:t>
            </a:r>
          </a:p>
          <a:p>
            <a:r>
              <a:rPr lang="en-US" sz="2000" b="1" dirty="0" smtClean="0"/>
              <a:t>Directed </a:t>
            </a:r>
            <a:r>
              <a:rPr lang="en-US" sz="2000" b="1" dirty="0"/>
              <a:t>diffusion </a:t>
            </a:r>
            <a:r>
              <a:rPr lang="en-US" sz="2000" dirty="0"/>
              <a:t>explores an alternative routing approach, where there are no real destinations for the packets but interests. Data is routed towards these interests and eventually arrive at the interested destination(s). </a:t>
            </a:r>
          </a:p>
          <a:p>
            <a:r>
              <a:rPr lang="en-US" sz="2000" b="1" dirty="0" smtClean="0"/>
              <a:t>CTP </a:t>
            </a:r>
            <a:r>
              <a:rPr lang="en-US" sz="2000" b="1" dirty="0"/>
              <a:t>(Collection Tree Protocol) </a:t>
            </a:r>
            <a:r>
              <a:rPr lang="en-US" sz="2000" dirty="0"/>
              <a:t>is the most often protocol used in real- world applications. It builds a tree rooted at the sink and connects all nodes with the sink. The data gets collected from all nodes at the sink. </a:t>
            </a:r>
          </a:p>
          <a:p>
            <a:r>
              <a:rPr lang="en-US" sz="2000" b="1" dirty="0" err="1" smtClean="0"/>
              <a:t>Zigbee</a:t>
            </a:r>
            <a:r>
              <a:rPr lang="en-US" sz="2000" b="1" dirty="0" smtClean="0"/>
              <a:t> </a:t>
            </a:r>
            <a:r>
              <a:rPr lang="en-US" sz="2000" dirty="0"/>
              <a:t>is a (industrial) standard protocol that is less </a:t>
            </a:r>
            <a:r>
              <a:rPr lang="en-US" sz="2000" dirty="0" smtClean="0"/>
              <a:t>flexible </a:t>
            </a:r>
            <a:r>
              <a:rPr lang="en-US" sz="2000" dirty="0"/>
              <a:t>than CTP.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6523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nets_ppt_theme_gru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comnets_ppt_theme_gruen.potx</Template>
  <TotalTime>8620</TotalTime>
  <Words>1022</Words>
  <Application>Microsoft Macintosh PowerPoint</Application>
  <PresentationFormat>On-screen Show (4:3)</PresentationFormat>
  <Paragraphs>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comnets_ppt_theme_gruen</vt:lpstr>
      <vt:lpstr>INTRODUCTION TO  WIRELESS SENSOR NETWORKS</vt:lpstr>
      <vt:lpstr>OVERVIEW</vt:lpstr>
      <vt:lpstr>Some Basic Definitions</vt:lpstr>
      <vt:lpstr>Communication Scenarios</vt:lpstr>
      <vt:lpstr>Routing</vt:lpstr>
      <vt:lpstr>Metric: Location and Distance</vt:lpstr>
      <vt:lpstr>Metric: Hops</vt:lpstr>
      <vt:lpstr>Metric: Number of Retransmissions (ETX)</vt:lpstr>
      <vt:lpstr>Metric: Delivery Delay</vt:lpstr>
      <vt:lpstr>Full-Network Broadcast</vt:lpstr>
      <vt:lpstr>Full Network Broadcast Algorithm</vt:lpstr>
      <vt:lpstr>Location-Based Routing</vt:lpstr>
      <vt:lpstr>Location-Based Routing: Deadends</vt:lpstr>
      <vt:lpstr>Location-Based Routing: Face Routing</vt:lpstr>
      <vt:lpstr>Location-Based Routing: Algorithm</vt:lpstr>
      <vt:lpstr>Directed Diffusion (DD)</vt:lpstr>
      <vt:lpstr>DD: Main Algorithm</vt:lpstr>
      <vt:lpstr>DD: Variations</vt:lpstr>
      <vt:lpstr>Collection Tree Protocol (CTP)</vt:lpstr>
      <vt:lpstr>Zigbee</vt:lpstr>
      <vt:lpstr>Routing: Summary</vt:lpstr>
      <vt:lpstr>Routing: Summary of Protocols</vt:lpstr>
    </vt:vector>
  </TitlesOfParts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Sarah</dc:creator>
  <cp:lastModifiedBy>Anna Förster</cp:lastModifiedBy>
  <cp:revision>270</cp:revision>
  <dcterms:created xsi:type="dcterms:W3CDTF">2015-07-16T14:19:04Z</dcterms:created>
  <dcterms:modified xsi:type="dcterms:W3CDTF">2018-04-18T08:45:51Z</dcterms:modified>
</cp:coreProperties>
</file>