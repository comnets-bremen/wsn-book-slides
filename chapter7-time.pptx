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051" autoAdjust="0"/>
  </p:normalViewPr>
  <p:slideViewPr>
    <p:cSldViewPr>
      <p:cViewPr varScale="1">
        <p:scale>
          <a:sx n="122" d="100"/>
          <a:sy n="122" d="100"/>
        </p:scale>
        <p:origin x="-24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15/05/17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15/05/17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20616"/>
            <a:ext cx="7416824" cy="1752600"/>
          </a:xfrm>
        </p:spPr>
        <p:txBody>
          <a:bodyPr/>
          <a:lstStyle/>
          <a:p>
            <a:r>
              <a:rPr lang="de-DE" dirty="0" smtClean="0"/>
              <a:t>CHAPTER 7: </a:t>
            </a:r>
            <a:br>
              <a:rPr lang="de-DE" dirty="0" smtClean="0"/>
            </a:br>
            <a:r>
              <a:rPr lang="de-DE" dirty="0" smtClean="0"/>
              <a:t>TIME SYNCHRONIZATION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smtClean="0"/>
              <a:t>Clocks and Delay Sources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smtClean="0"/>
              <a:t>Requirements and Challenges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smtClean="0"/>
              <a:t>Time Synchronization Protocols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smtClean="0"/>
              <a:t>Lightweight Tree Synchronization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smtClean="0"/>
              <a:t>Reference Broadcast Synchronization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dirty="0" err="1" smtClean="0"/>
              <a:t>NoTime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11644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Clocks and Delay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80728"/>
            <a:ext cx="4644008" cy="5112568"/>
          </a:xfrm>
        </p:spPr>
        <p:txBody>
          <a:bodyPr>
            <a:normAutofit/>
          </a:bodyPr>
          <a:lstStyle/>
          <a:p>
            <a:r>
              <a:rPr lang="en-US" sz="2400" b="1" i="1" dirty="0" smtClean="0"/>
              <a:t>Clock resolution or rate </a:t>
            </a:r>
            <a:r>
              <a:rPr lang="en-US" sz="2400" i="1" dirty="0" smtClean="0"/>
              <a:t>is the step at which the clock progresses </a:t>
            </a:r>
            <a:r>
              <a:rPr lang="en-US" sz="2400" i="1" dirty="0"/>
              <a:t>and can be </a:t>
            </a:r>
            <a:r>
              <a:rPr lang="en-US" sz="2400" i="1" dirty="0" smtClean="0"/>
              <a:t>read </a:t>
            </a:r>
          </a:p>
          <a:p>
            <a:r>
              <a:rPr lang="en-US" sz="2400" b="1" i="1" dirty="0"/>
              <a:t>Clock skew or drift </a:t>
            </a:r>
            <a:r>
              <a:rPr lang="en-US" sz="2400" i="1" dirty="0"/>
              <a:t>is the difference between the progressing speeds of two clocks </a:t>
            </a:r>
            <a:endParaRPr lang="en-US" sz="2400" dirty="0"/>
          </a:p>
          <a:p>
            <a:r>
              <a:rPr lang="en-US" sz="2400" b="1" i="1" dirty="0"/>
              <a:t>Clock offset </a:t>
            </a:r>
            <a:r>
              <a:rPr lang="en-US" sz="2400" i="1" dirty="0"/>
              <a:t>is the difference between the time shown by two </a:t>
            </a:r>
            <a:r>
              <a:rPr lang="en-US" sz="2400" i="1" dirty="0" smtClean="0"/>
              <a:t>different clocks </a:t>
            </a:r>
            <a:endParaRPr lang="en-US" sz="2400" dirty="0"/>
          </a:p>
          <a:p>
            <a:r>
              <a:rPr lang="en-US" sz="2400" b="1" i="1" dirty="0"/>
              <a:t>Clock jitter </a:t>
            </a:r>
            <a:r>
              <a:rPr lang="en-US" sz="2400" i="1" dirty="0"/>
              <a:t>is when the individual ticks of a clock are not </a:t>
            </a:r>
            <a:r>
              <a:rPr lang="en-US" sz="2400" i="1" dirty="0" smtClean="0"/>
              <a:t>perfectly </a:t>
            </a:r>
            <a:r>
              <a:rPr lang="en-US" sz="2400" i="1" dirty="0"/>
              <a:t>the </a:t>
            </a:r>
            <a:r>
              <a:rPr lang="en-US" sz="2400" i="1" dirty="0" smtClean="0"/>
              <a:t>same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 descr="clock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844824"/>
            <a:ext cx="43180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930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and Challenges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Two clocks drift apart even after synchronization </a:t>
            </a:r>
            <a:endParaRPr lang="en-US" dirty="0"/>
          </a:p>
          <a:p>
            <a:r>
              <a:rPr lang="en-US" b="1" dirty="0"/>
              <a:t>The maximum drift rate of a clock dictates the synchronization </a:t>
            </a:r>
            <a:r>
              <a:rPr lang="en-US" b="1" dirty="0" smtClean="0"/>
              <a:t>period</a:t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2400" dirty="0" smtClean="0"/>
              <a:t>where </a:t>
            </a:r>
            <a:r>
              <a:rPr lang="en-US" sz="2400" dirty="0" err="1" smtClean="0"/>
              <a:t>ρ</a:t>
            </a:r>
            <a:r>
              <a:rPr lang="en-US" sz="2400" dirty="0" smtClean="0"/>
              <a:t>  is the maximum drift rate in ppm (parts per million), </a:t>
            </a:r>
            <a:r>
              <a:rPr lang="en-US" sz="2400" dirty="0" err="1" smtClean="0"/>
              <a:t>δ</a:t>
            </a:r>
            <a:r>
              <a:rPr lang="en-US" sz="2400" dirty="0" smtClean="0"/>
              <a:t> is the maximum allowed drift in seconds and </a:t>
            </a:r>
            <a:r>
              <a:rPr lang="en-US" sz="2400" dirty="0" err="1" smtClean="0"/>
              <a:t>τsync</a:t>
            </a:r>
            <a:r>
              <a:rPr lang="en-US" sz="2400" dirty="0" smtClean="0"/>
              <a:t> is your needed synchronization period.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356992"/>
            <a:ext cx="20955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244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and Challenges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The time synchronization protocol cannot jump back and forth in time</a:t>
            </a:r>
            <a:r>
              <a:rPr lang="en-US" b="1" dirty="0"/>
              <a:t>. </a:t>
            </a:r>
            <a:endParaRPr lang="en-US" dirty="0"/>
          </a:p>
          <a:p>
            <a:r>
              <a:rPr lang="en-US" b="1" i="1" dirty="0"/>
              <a:t>Time synchronization accuracy </a:t>
            </a:r>
            <a:r>
              <a:rPr lang="en-US" i="1" dirty="0"/>
              <a:t>is the maximum offset between the </a:t>
            </a:r>
            <a:r>
              <a:rPr lang="en-US" i="1" dirty="0" smtClean="0"/>
              <a:t>synchronized </a:t>
            </a:r>
            <a:r>
              <a:rPr lang="en-US" i="1" dirty="0"/>
              <a:t>clock and a reference clock (for example global time). </a:t>
            </a:r>
            <a:endParaRPr lang="en-US" i="1" dirty="0" smtClean="0"/>
          </a:p>
          <a:p>
            <a:r>
              <a:rPr lang="en-US" b="1" i="1" dirty="0"/>
              <a:t>Time synchronization precision </a:t>
            </a:r>
            <a:r>
              <a:rPr lang="en-US" i="1" dirty="0"/>
              <a:t>is the maximum offset between any two </a:t>
            </a:r>
            <a:r>
              <a:rPr lang="en-US" i="1" dirty="0" smtClean="0"/>
              <a:t>synchronized </a:t>
            </a:r>
            <a:r>
              <a:rPr lang="en-US" i="1" dirty="0"/>
              <a:t>clocks. </a:t>
            </a:r>
            <a:endParaRPr lang="en-US" i="1" dirty="0" smtClean="0"/>
          </a:p>
          <a:p>
            <a:r>
              <a:rPr lang="en-US" b="1" dirty="0"/>
              <a:t>Time synchronization precision is important to understand the sensor data.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1031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Sensor Data</a:t>
            </a:r>
            <a:endParaRPr lang="en-US" dirty="0"/>
          </a:p>
        </p:txBody>
      </p:sp>
      <p:pic>
        <p:nvPicPr>
          <p:cNvPr id="4" name="Picture 3" descr="walking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83" y="908720"/>
            <a:ext cx="8110449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31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Synchronization Protocols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Externally</a:t>
            </a:r>
            <a:r>
              <a:rPr lang="en-US" dirty="0" smtClean="0"/>
              <a:t> Synchronized: there is an external source of correct time data.</a:t>
            </a:r>
          </a:p>
          <a:p>
            <a:r>
              <a:rPr lang="en-US" b="1" dirty="0" smtClean="0"/>
              <a:t>Internally</a:t>
            </a:r>
            <a:r>
              <a:rPr lang="en-US" dirty="0" smtClean="0"/>
              <a:t> Synchronized: consistent view from all nodes, but not globally correct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220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Sender-Receiver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53136"/>
            <a:ext cx="8229600" cy="147302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Long critical path</a:t>
            </a:r>
            <a:endParaRPr lang="en-US" sz="2800" dirty="0"/>
          </a:p>
        </p:txBody>
      </p:sp>
      <p:pic>
        <p:nvPicPr>
          <p:cNvPr id="4" name="Picture 3" descr="senderreceiver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980728"/>
            <a:ext cx="61214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253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Receiver-Receiver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4365"/>
            <a:ext cx="8229600" cy="46491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Shorter critical path</a:t>
            </a:r>
            <a:endParaRPr lang="en-US" dirty="0"/>
          </a:p>
        </p:txBody>
      </p:sp>
      <p:pic>
        <p:nvPicPr>
          <p:cNvPr id="4" name="Picture 3" descr="receiverreceiver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908720"/>
            <a:ext cx="5688632" cy="45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11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Lightweight Tree Synchronization (LTS)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spanning tree from root (sink) to all nodes</a:t>
            </a:r>
          </a:p>
          <a:p>
            <a:r>
              <a:rPr lang="en-US" dirty="0" smtClean="0"/>
              <a:t>Sink has globally correct time</a:t>
            </a:r>
          </a:p>
          <a:p>
            <a:r>
              <a:rPr lang="en-US" dirty="0" smtClean="0"/>
              <a:t>Sink sends a message to its children to sync them, then traverse the tree</a:t>
            </a:r>
          </a:p>
          <a:p>
            <a:r>
              <a:rPr lang="en-US" dirty="0" smtClean="0"/>
              <a:t>Use sender-receiver synchronization</a:t>
            </a:r>
          </a:p>
          <a:p>
            <a:endParaRPr lang="en-US" dirty="0"/>
          </a:p>
          <a:p>
            <a:r>
              <a:rPr lang="en-US" dirty="0" smtClean="0"/>
              <a:t>Precision depends on depth of tree and does not scale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388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Reference Broadcast Synchronization (RBS)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Uses receiver-receiver synchronization</a:t>
            </a:r>
          </a:p>
          <a:p>
            <a:r>
              <a:rPr lang="en-US" sz="2800" dirty="0" smtClean="0"/>
              <a:t>Broadcast correct time to all neighbors</a:t>
            </a:r>
          </a:p>
          <a:p>
            <a:endParaRPr lang="en-US" sz="2800" dirty="0"/>
          </a:p>
          <a:p>
            <a:r>
              <a:rPr lang="en-US" sz="2800" dirty="0" smtClean="0"/>
              <a:t>Total precision increases with number of broadcasts</a:t>
            </a:r>
          </a:p>
          <a:p>
            <a:r>
              <a:rPr lang="en-US" sz="2800" dirty="0" smtClean="0"/>
              <a:t>Scales well</a:t>
            </a:r>
          </a:p>
          <a:p>
            <a:r>
              <a:rPr lang="en-US" sz="2800" dirty="0" smtClean="0"/>
              <a:t>Not very efficient in terms of communication overhead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3887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NoTime</a:t>
            </a:r>
            <a:r>
              <a:rPr lang="en-US" dirty="0" smtClean="0"/>
              <a:t>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229600" cy="15841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Do not try to time sync the nodes directly</a:t>
            </a:r>
          </a:p>
          <a:p>
            <a:r>
              <a:rPr lang="en-US" dirty="0" smtClean="0"/>
              <a:t>Provide enough information so that the sink can reconstruct the real time</a:t>
            </a:r>
          </a:p>
          <a:p>
            <a:r>
              <a:rPr lang="en-US" dirty="0" smtClean="0"/>
              <a:t>Save delays on the way</a:t>
            </a:r>
          </a:p>
        </p:txBody>
      </p:sp>
      <p:pic>
        <p:nvPicPr>
          <p:cNvPr id="4" name="Picture 3" descr="notim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420888"/>
            <a:ext cx="3962400" cy="341630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79512" y="2924944"/>
            <a:ext cx="4320480" cy="288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700" dirty="0" smtClean="0"/>
              <a:t>Precision  depends on:</a:t>
            </a:r>
          </a:p>
          <a:p>
            <a:pPr lvl="1"/>
            <a:r>
              <a:rPr lang="en-US" sz="2700" dirty="0" smtClean="0"/>
              <a:t>Propagation Delay</a:t>
            </a:r>
          </a:p>
          <a:p>
            <a:pPr lvl="1"/>
            <a:r>
              <a:rPr lang="en-US" sz="2700" dirty="0" smtClean="0"/>
              <a:t>Hardware Delay</a:t>
            </a:r>
          </a:p>
          <a:p>
            <a:pPr lvl="1"/>
            <a:r>
              <a:rPr lang="en-US" sz="2700" dirty="0" smtClean="0"/>
              <a:t>Local time resolution</a:t>
            </a:r>
          </a:p>
        </p:txBody>
      </p:sp>
    </p:spTree>
    <p:extLst>
      <p:ext uri="{BB962C8B-B14F-4D97-AF65-F5344CB8AC3E}">
        <p14:creationId xmlns:p14="http://schemas.microsoft.com/office/powerpoint/2010/main" val="33346735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517632" cy="5145435"/>
          </a:xfrm>
        </p:spPr>
        <p:txBody>
          <a:bodyPr>
            <a:noAutofit/>
          </a:bodyPr>
          <a:lstStyle/>
          <a:p>
            <a:r>
              <a:rPr lang="en-US" sz="2200" b="1" dirty="0"/>
              <a:t>C</a:t>
            </a:r>
            <a:r>
              <a:rPr lang="en-US" sz="2200" b="1" dirty="0" smtClean="0"/>
              <a:t>lock skew</a:t>
            </a:r>
            <a:r>
              <a:rPr lang="en-US" sz="2200" dirty="0" smtClean="0"/>
              <a:t> </a:t>
            </a:r>
            <a:r>
              <a:rPr lang="en-US" sz="2200" dirty="0"/>
              <a:t>causes two clocks to progress at different rates, </a:t>
            </a:r>
            <a:r>
              <a:rPr lang="en-US" sz="2200" dirty="0" smtClean="0"/>
              <a:t>while </a:t>
            </a:r>
            <a:r>
              <a:rPr lang="en-US" sz="2200" b="1" dirty="0" smtClean="0"/>
              <a:t>clock jitter</a:t>
            </a:r>
            <a:r>
              <a:rPr lang="en-US" sz="2200" dirty="0" smtClean="0"/>
              <a:t> causes </a:t>
            </a:r>
            <a:r>
              <a:rPr lang="en-US" sz="2200" dirty="0"/>
              <a:t>a clock to tick irregularly. </a:t>
            </a:r>
          </a:p>
          <a:p>
            <a:r>
              <a:rPr lang="en-US" sz="2200" dirty="0" smtClean="0"/>
              <a:t>Provide efficiency and simplicity: </a:t>
            </a:r>
            <a:endParaRPr lang="en-US" sz="2200" dirty="0"/>
          </a:p>
          <a:p>
            <a:pPr lvl="1"/>
            <a:r>
              <a:rPr lang="en-US" sz="2200" dirty="0" smtClean="0"/>
              <a:t>Regular </a:t>
            </a:r>
            <a:r>
              <a:rPr lang="en-US" sz="2200" dirty="0"/>
              <a:t>synchronization is </a:t>
            </a:r>
            <a:r>
              <a:rPr lang="en-US" sz="2200" dirty="0" smtClean="0"/>
              <a:t>needed. </a:t>
            </a:r>
            <a:endParaRPr lang="en-US" sz="2200" dirty="0"/>
          </a:p>
          <a:p>
            <a:pPr lvl="1"/>
            <a:r>
              <a:rPr lang="en-US" sz="2200" dirty="0" smtClean="0"/>
              <a:t>Available </a:t>
            </a:r>
            <a:r>
              <a:rPr lang="en-US" sz="2200" dirty="0"/>
              <a:t>time </a:t>
            </a:r>
            <a:r>
              <a:rPr lang="en-US" sz="2200" dirty="0" smtClean="0"/>
              <a:t>cannot jump </a:t>
            </a:r>
            <a:r>
              <a:rPr lang="en-US" sz="2200" dirty="0"/>
              <a:t>back and forth </a:t>
            </a:r>
            <a:r>
              <a:rPr lang="en-US" sz="2200" dirty="0" smtClean="0"/>
              <a:t>in. </a:t>
            </a:r>
            <a:endParaRPr lang="en-US" sz="2200" dirty="0"/>
          </a:p>
          <a:p>
            <a:r>
              <a:rPr lang="en-US" sz="2200" b="1" dirty="0" smtClean="0"/>
              <a:t>Lightweight </a:t>
            </a:r>
            <a:r>
              <a:rPr lang="en-US" sz="2200" b="1" dirty="0"/>
              <a:t>tree synchronization protocol (LTS</a:t>
            </a:r>
            <a:r>
              <a:rPr lang="en-US" sz="2200" b="1" dirty="0" smtClean="0"/>
              <a:t>)</a:t>
            </a:r>
            <a:r>
              <a:rPr lang="en-US" sz="2200" dirty="0" smtClean="0"/>
              <a:t> </a:t>
            </a:r>
            <a:r>
              <a:rPr lang="en-US" sz="2200" dirty="0"/>
              <a:t>uses the sender-receiver synchronization message </a:t>
            </a:r>
            <a:r>
              <a:rPr lang="en-US" sz="2200" dirty="0" smtClean="0"/>
              <a:t>exchange and is not scalable.</a:t>
            </a:r>
            <a:endParaRPr lang="en-US" sz="2200" dirty="0"/>
          </a:p>
          <a:p>
            <a:r>
              <a:rPr lang="en-US" sz="2200" b="1" dirty="0"/>
              <a:t>Broadcast reference protocol (RBS</a:t>
            </a:r>
            <a:r>
              <a:rPr lang="en-US" sz="2200" b="1" dirty="0" smtClean="0"/>
              <a:t>)</a:t>
            </a:r>
            <a:r>
              <a:rPr lang="en-US" sz="2200" dirty="0" smtClean="0"/>
              <a:t> uses </a:t>
            </a:r>
            <a:r>
              <a:rPr lang="en-US" sz="2200" dirty="0"/>
              <a:t>the receiver-receiver synchronization message </a:t>
            </a:r>
            <a:r>
              <a:rPr lang="en-US" sz="2200" dirty="0" smtClean="0"/>
              <a:t>exchange, has </a:t>
            </a:r>
            <a:r>
              <a:rPr lang="en-US" sz="2200" dirty="0"/>
              <a:t>greater precision than </a:t>
            </a:r>
            <a:r>
              <a:rPr lang="en-US" sz="2200" dirty="0" smtClean="0"/>
              <a:t>LTS and is scalable. </a:t>
            </a:r>
            <a:endParaRPr lang="en-US" sz="2200" dirty="0"/>
          </a:p>
          <a:p>
            <a:r>
              <a:rPr lang="en-US" sz="2200" b="1" dirty="0" err="1" smtClean="0"/>
              <a:t>NoTime</a:t>
            </a:r>
            <a:r>
              <a:rPr lang="en-US" sz="2200" dirty="0" smtClean="0"/>
              <a:t> does </a:t>
            </a:r>
            <a:r>
              <a:rPr lang="en-US" sz="2200" dirty="0"/>
              <a:t>not synchronize the nodes, but </a:t>
            </a:r>
            <a:r>
              <a:rPr lang="en-US" sz="2200" dirty="0" smtClean="0"/>
              <a:t>computes </a:t>
            </a:r>
            <a:r>
              <a:rPr lang="en-US" sz="2200" dirty="0"/>
              <a:t>the in-network delay for each </a:t>
            </a:r>
            <a:r>
              <a:rPr lang="en-US" sz="2200" dirty="0" smtClean="0"/>
              <a:t>data </a:t>
            </a:r>
            <a:r>
              <a:rPr lang="en-US" sz="2200" dirty="0"/>
              <a:t>packet, which enables the sink to compute the original event’s real time. 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259370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3453</TotalTime>
  <Words>465</Words>
  <Application>Microsoft Macintosh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comnets_ppt_theme_gruen</vt:lpstr>
      <vt:lpstr>INTRODUCTION TO  WIRELESS SENSOR NETWORKS</vt:lpstr>
      <vt:lpstr>OVERVIEW</vt:lpstr>
      <vt:lpstr>Clocks and Delay Sources</vt:lpstr>
      <vt:lpstr>Requirements and Challenges (1)</vt:lpstr>
      <vt:lpstr>Requirements and Challenges (2)</vt:lpstr>
      <vt:lpstr>Understanding Sensor Data</vt:lpstr>
      <vt:lpstr>Time Synchronization Protocols</vt:lpstr>
      <vt:lpstr>Sender-Receiver Synchronization</vt:lpstr>
      <vt:lpstr>Receiver-Receiver Synchronization</vt:lpstr>
      <vt:lpstr>Lightweight Tree Synchronization (LTS)</vt:lpstr>
      <vt:lpstr>Reference Broadcast Synchronization (RBS)</vt:lpstr>
      <vt:lpstr>NoTime Protocol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158</cp:revision>
  <dcterms:created xsi:type="dcterms:W3CDTF">2015-07-16T14:19:04Z</dcterms:created>
  <dcterms:modified xsi:type="dcterms:W3CDTF">2017-05-15T09:06:37Z</dcterms:modified>
</cp:coreProperties>
</file>